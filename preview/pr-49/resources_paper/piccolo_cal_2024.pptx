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57" r:id="rId5"/>
    <p:sldId id="438" r:id="rId6"/>
    <p:sldId id="442" r:id="rId7"/>
    <p:sldId id="443" r:id="rId8"/>
    <p:sldId id="439" r:id="rId9"/>
    <p:sldId id="449" r:id="rId10"/>
    <p:sldId id="452" r:id="rId11"/>
    <p:sldId id="453" r:id="rId12"/>
    <p:sldId id="450" r:id="rId13"/>
    <p:sldId id="421" r:id="rId14"/>
    <p:sldId id="444" r:id="rId15"/>
    <p:sldId id="410" r:id="rId16"/>
  </p:sldIdLst>
  <p:sldSz cx="12192000" cy="6858000"/>
  <p:notesSz cx="10234613" cy="710406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7171"/>
    <a:srgbClr val="92D050"/>
    <a:srgbClr val="FF5050"/>
    <a:srgbClr val="BFBFBF"/>
    <a:srgbClr val="595959"/>
    <a:srgbClr val="C86420"/>
    <a:srgbClr val="BEBEBE"/>
    <a:srgbClr val="9F9F9F"/>
    <a:srgbClr val="FF0000"/>
    <a:srgbClr val="B4C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보통 스타일 1 - 강조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4" autoAdjust="0"/>
    <p:restoredTop sz="85714" autoAdjust="0"/>
  </p:normalViewPr>
  <p:slideViewPr>
    <p:cSldViewPr snapToGrid="0">
      <p:cViewPr varScale="1">
        <p:scale>
          <a:sx n="72" d="100"/>
          <a:sy n="72" d="100"/>
        </p:scale>
        <p:origin x="10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098" y="14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04C0EB2-54C6-96BB-3361-8F3C580A42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0B3F858-4248-E4E3-C0A3-9ED88BB994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797550" y="0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979B8-9B07-4766-8DD9-EFC8D4CA8EE6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666893E-B0C5-3A7D-A9D0-95895EC0E3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48463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51FBB0-0187-E3B0-D5F1-90088E934D3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797550" y="6748463"/>
            <a:ext cx="4435475" cy="355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6EA5B-2AFF-47FC-A6CC-C176D51214E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04927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434998" cy="356437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797248" y="0"/>
            <a:ext cx="4434998" cy="356437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97052D0E-0BD8-45B8-9B0D-285FCA4A7331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987675" y="887413"/>
            <a:ext cx="4259263" cy="239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023462" y="3418831"/>
            <a:ext cx="8187690" cy="2797224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6747630"/>
            <a:ext cx="4434998" cy="35643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797248" y="6747630"/>
            <a:ext cx="4434998" cy="35643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B43C726-9DAB-4884-AB59-0EEF9E9CB3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257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>
              <a:lnSpc>
                <a:spcPct val="107000"/>
              </a:lnSpc>
              <a:spcAft>
                <a:spcPts val="867"/>
              </a:spcAft>
            </a:pPr>
            <a:endParaRPr lang="en-US" altLang="ko-KR" sz="1200" kern="100" dirty="0"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070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649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973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buNone/>
            </a:pPr>
            <a:endParaRPr lang="en-US" altLang="ko-KR" sz="12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683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565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408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640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139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84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9396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6887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43C726-9DAB-4884-AB59-0EEF9E9CB3CE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4903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E47A7-5E0A-D71F-F8E0-AF3142427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6879"/>
            <a:ext cx="9144000" cy="2387600"/>
          </a:xfrm>
        </p:spPr>
        <p:txBody>
          <a:bodyPr anchor="b"/>
          <a:lstStyle>
            <a:lvl1pPr algn="ctr">
              <a:defRPr sz="6000" b="1">
                <a:latin typeface="Abadi" panose="020B0604020104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519721-1F60-EA21-FF67-2E7B6D82D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66554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latin typeface="Abadi" panose="020B06040201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DFF33-55D7-D3E6-32F7-D9CE1CDED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97C2-4299-4BD0-A803-6FD0331AF79E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B8F906-087A-8EE9-FEE3-B64F2675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11E27FF-CEBD-65B5-9228-172E29CC5D44}"/>
              </a:ext>
            </a:extLst>
          </p:cNvPr>
          <p:cNvCxnSpPr>
            <a:cxnSpLocks/>
          </p:cNvCxnSpPr>
          <p:nvPr userDrawn="1"/>
        </p:nvCxnSpPr>
        <p:spPr>
          <a:xfrm>
            <a:off x="1524000" y="4013546"/>
            <a:ext cx="106863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그림 12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9970F635-35E8-FA46-90DC-E3C9EA13695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517" y="54444"/>
            <a:ext cx="2538887" cy="98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08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C4103B-B397-7523-1207-6D4E46E04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36525"/>
            <a:ext cx="10515600" cy="708300"/>
          </a:xfrm>
        </p:spPr>
        <p:txBody>
          <a:bodyPr>
            <a:normAutofit/>
          </a:bodyPr>
          <a:lstStyle>
            <a:lvl1pPr>
              <a:defRPr sz="4000" b="1">
                <a:latin typeface="Abadi" panose="020B0604020104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C98BBB-1363-12C7-BBB2-EDC8298D7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916"/>
            <a:ext cx="10515600" cy="4351338"/>
          </a:xfrm>
        </p:spPr>
        <p:txBody>
          <a:bodyPr/>
          <a:lstStyle>
            <a:lvl1pPr marL="514350" indent="-514350">
              <a:lnSpc>
                <a:spcPct val="100000"/>
              </a:lnSpc>
              <a:buFont typeface="+mj-lt"/>
              <a:buAutoNum type="arabicPeriod"/>
              <a:defRPr sz="3200" b="1">
                <a:latin typeface="Abadi" panose="020B0604020104020204" pitchFamily="34" charset="0"/>
              </a:defRPr>
            </a:lvl1pPr>
            <a:lvl2pPr marL="685800" indent="-228600">
              <a:lnSpc>
                <a:spcPct val="100000"/>
              </a:lnSpc>
              <a:buFont typeface="Abadi" panose="020B0604020104020204" pitchFamily="34" charset="0"/>
              <a:buChar char="-"/>
              <a:defRPr sz="2800" b="0">
                <a:latin typeface="Abadi" panose="020B0604020104020204" pitchFamily="34" charset="0"/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61AB68-50E3-0716-9C1F-5C30AF35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7E5E1-F5F3-45BA-952E-FB50A1086F04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7C4AA9-78A4-B1E9-A8E8-EA8F59826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70290F-7F5B-28B2-10FA-5B1004439CFC}"/>
              </a:ext>
            </a:extLst>
          </p:cNvPr>
          <p:cNvSpPr txBox="1"/>
          <p:nvPr userDrawn="1"/>
        </p:nvSpPr>
        <p:spPr>
          <a:xfrm>
            <a:off x="11521441" y="6348399"/>
            <a:ext cx="72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badi" panose="020B0604020104020204" pitchFamily="34" charset="0"/>
              </a:rPr>
              <a:t>/ -</a:t>
            </a:r>
          </a:p>
        </p:txBody>
      </p:sp>
      <p:sp>
        <p:nvSpPr>
          <p:cNvPr id="11" name="슬라이드 번호 개체 틀 5">
            <a:extLst>
              <a:ext uri="{FF2B5EF4-FFF2-40B4-BE49-F238E27FC236}">
                <a16:creationId xmlns:a16="http://schemas.microsoft.com/office/drawing/2014/main" id="{E44E7191-1119-5F5D-235A-0190AF566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8094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7280636E-A2E9-ABC4-27E0-01B22D9FC257}"/>
              </a:ext>
            </a:extLst>
          </p:cNvPr>
          <p:cNvCxnSpPr>
            <a:cxnSpLocks/>
          </p:cNvCxnSpPr>
          <p:nvPr userDrawn="1"/>
        </p:nvCxnSpPr>
        <p:spPr>
          <a:xfrm>
            <a:off x="0" y="749220"/>
            <a:ext cx="497198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 descr="실루엣이(가) 표시된 사진&#10;&#10;자동 생성된 설명">
            <a:extLst>
              <a:ext uri="{FF2B5EF4-FFF2-40B4-BE49-F238E27FC236}">
                <a16:creationId xmlns:a16="http://schemas.microsoft.com/office/drawing/2014/main" id="{37102052-F9F3-2BBB-5FA6-BE6856B60A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006" y="48986"/>
            <a:ext cx="1276353" cy="89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966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881327-D446-0DE0-1AFD-B0557F990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BEC31-C9B1-42E2-80B8-6C8FBB97EA80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41D57B9-93FA-EF62-E328-3A81AF7B5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E23340C-D89C-06BE-C732-83FA910D1822}"/>
              </a:ext>
            </a:extLst>
          </p:cNvPr>
          <p:cNvCxnSpPr>
            <a:cxnSpLocks/>
          </p:cNvCxnSpPr>
          <p:nvPr userDrawn="1"/>
        </p:nvCxnSpPr>
        <p:spPr>
          <a:xfrm>
            <a:off x="0" y="2941721"/>
            <a:ext cx="410276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49D92E47-0E4F-4937-1A8E-5DFBE77BAB35}"/>
              </a:ext>
            </a:extLst>
          </p:cNvPr>
          <p:cNvCxnSpPr>
            <a:cxnSpLocks/>
          </p:cNvCxnSpPr>
          <p:nvPr userDrawn="1"/>
        </p:nvCxnSpPr>
        <p:spPr>
          <a:xfrm>
            <a:off x="7657106" y="4411579"/>
            <a:ext cx="458703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제목 1">
            <a:extLst>
              <a:ext uri="{FF2B5EF4-FFF2-40B4-BE49-F238E27FC236}">
                <a16:creationId xmlns:a16="http://schemas.microsoft.com/office/drawing/2014/main" id="{92144DE8-1460-0098-B37D-636CD52D7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2350115"/>
            <a:ext cx="10515600" cy="7083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4000" b="1">
                <a:latin typeface="Abadi" panose="020B0604020104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C31E84-1733-0AB5-EC7E-2E3018FC993A}"/>
              </a:ext>
            </a:extLst>
          </p:cNvPr>
          <p:cNvSpPr txBox="1"/>
          <p:nvPr userDrawn="1"/>
        </p:nvSpPr>
        <p:spPr>
          <a:xfrm>
            <a:off x="11521441" y="6348399"/>
            <a:ext cx="7235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atin typeface="Abadi" panose="020B0604020104020204" pitchFamily="34" charset="0"/>
              </a:rPr>
              <a:t>/ 6</a:t>
            </a:r>
            <a:endParaRPr lang="ko-KR" altLang="en-US" sz="2000" b="1" dirty="0">
              <a:latin typeface="Abadi" panose="020B0604020104020204" pitchFamily="34" charset="0"/>
            </a:endParaRPr>
          </a:p>
        </p:txBody>
      </p:sp>
      <p:sp>
        <p:nvSpPr>
          <p:cNvPr id="13" name="슬라이드 번호 개체 틀 5">
            <a:extLst>
              <a:ext uri="{FF2B5EF4-FFF2-40B4-BE49-F238E27FC236}">
                <a16:creationId xmlns:a16="http://schemas.microsoft.com/office/drawing/2014/main" id="{F2B31B91-203D-368D-0100-DD09D0B6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8094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56A8BC9-1F82-37D0-943B-F60BB3420B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91060" y="4462641"/>
            <a:ext cx="4673600" cy="1081087"/>
          </a:xfrm>
        </p:spPr>
        <p:txBody>
          <a:bodyPr>
            <a:normAutofit/>
          </a:bodyPr>
          <a:lstStyle>
            <a:lvl1pPr marL="228600" indent="-228600">
              <a:buFont typeface="맑은 고딕" panose="020B0503020000020004" pitchFamily="50" charset="-127"/>
              <a:buChar char="-"/>
              <a:defRPr sz="3200" b="1">
                <a:latin typeface="Abadi" panose="020B0604020104020204" pitchFamily="34" charset="0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3" name="그림 2" descr="실루엣이(가) 표시된 사진&#10;&#10;자동 생성된 설명">
            <a:extLst>
              <a:ext uri="{FF2B5EF4-FFF2-40B4-BE49-F238E27FC236}">
                <a16:creationId xmlns:a16="http://schemas.microsoft.com/office/drawing/2014/main" id="{9BEB01BA-7959-1CBF-2E63-CD3123C410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4006" y="48986"/>
            <a:ext cx="1276353" cy="89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846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E47A7-5E0A-D71F-F8E0-AF3142427E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latin typeface="Abadi" panose="020B0604020104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2519721-1F60-EA21-FF67-2E7B6D82D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="1">
                <a:latin typeface="Abadi" panose="020B06040201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DFF33-55D7-D3E6-32F7-D9CE1CDED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397C2-4299-4BD0-A803-6FD0331AF79E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2B8F906-087A-8EE9-FEE3-B64F2675F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11E27FF-CEBD-65B5-9228-172E29CC5D44}"/>
              </a:ext>
            </a:extLst>
          </p:cNvPr>
          <p:cNvCxnSpPr>
            <a:cxnSpLocks/>
          </p:cNvCxnSpPr>
          <p:nvPr userDrawn="1"/>
        </p:nvCxnSpPr>
        <p:spPr>
          <a:xfrm>
            <a:off x="712766" y="3509963"/>
            <a:ext cx="106863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 descr="실루엣, 밤하늘이(가) 표시된 사진&#10;&#10;자동 생성된 설명">
            <a:extLst>
              <a:ext uri="{FF2B5EF4-FFF2-40B4-BE49-F238E27FC236}">
                <a16:creationId xmlns:a16="http://schemas.microsoft.com/office/drawing/2014/main" id="{73F80E6A-D743-6B00-47A0-6B55332CA2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517" y="54444"/>
            <a:ext cx="2538887" cy="988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5A08BB-57C3-59AC-6EF1-3245BD04F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CC6AAB-0B3C-66D6-C1D9-E37696244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59E298-4C7B-AC70-89CA-CFC26007C3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6E62A1E-BFDC-8241-02F8-795E0CB3D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1F9F7-7D60-427F-9E59-5A4D1EBD45DD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698895-8380-D107-4128-0E4AD323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A9518D-57ED-F9F9-BB2D-AF83B4EB2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91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E0EFF1-3F35-DFD7-18A4-A1703E0C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2F4514-E373-3EEB-269A-33EBC2157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E2AFC67-524C-0215-F0C3-FE59893C5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C4D8DB-A08C-D559-0D96-8F732BE9E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7F35378-B417-6A10-FB46-0775E65806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34F77CF-5644-9339-FFB7-19089A686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FB808-51A5-4708-8A47-C178C7A09BE6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9C44420-0004-766E-7FFA-977071CA3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FBB3B35-72F9-55D3-9D24-122FA6EB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7405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1B8AC-78D9-07EA-DC33-6925701A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55DD71-C7E0-0628-EF27-91A1EE30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01689-B470-400B-A95A-C68F80921831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CEC8773-4EE8-9089-1882-05F556AB0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E957A3-016C-D917-A2B5-1128670BE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823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554645-A823-EFB3-C97D-8A0A0CC5B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560A-B3B4-4257-8515-ECDCC9CE1307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EBE46A-7475-9859-29C3-82AC2243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A6A471-A32E-C4C5-048F-CCDD7BE64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286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463F0-BA6E-FEB4-C896-D9FF11257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B3B97-5767-DD52-B839-628EA4023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8EBA691-771D-00EF-02FB-398F16F00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D2D42B-EC4E-D0F6-11D6-A42146537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1FA1-D97E-42EB-B99A-C95AE42352A2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C8DA4C-9C64-06B9-9745-8942F0BDA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58D0A5-0A97-FFA6-8D29-1D7FE08E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447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CC178C-45C4-A7DB-D5A9-D504B2467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78E0C9-0332-6BC7-CE5B-E2805F360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DABF1A-E70C-B1F9-3D7B-BA23617F2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DB5A16-0A54-47A1-5FDB-9CE279DB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80F0F-0353-4F5D-83AE-AAC1BB46B8E6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96ED27-E6D8-287E-4429-C54E36726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BDCAFA-8FA5-1BE9-3F0F-7DE83C3F3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74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63F208-CC80-D19F-1083-4E95FEEC7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0ADFB1-16E9-AA04-E06B-CA6E9B4FA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1C26DC-CE3F-ABE3-7961-11EE8E8C3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2B7E-A097-4205-B6F8-A90E38906DFD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C39E5B-E18C-3FB1-0167-45083AABE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43421C-364E-1978-8B09-E29341810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7029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1325C08-FAB4-53CD-5468-136B8CA6DD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D383FB-1822-EB93-0C89-0D8D5C8E6D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CAC7A4-16A5-99E9-4A1B-10686CFF7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D9F3F-64E7-45CF-82CF-A20B4FFB82C9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00092C-EBA3-89BA-211A-1A3B74853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6CB7A9-E0E6-AD60-CED9-A4CCC05ED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D67E92-D382-44B7-ADA8-D2CDA39938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9033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794386D-F375-2F70-762B-A26BD899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3EC1BA-D02E-1C9A-265E-EA3C584E3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E0432D-0A61-F057-8348-EFB1D3A67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9E030-C6FB-48D1-8A52-402F8418E810}" type="datetime1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5673F7-507E-AC22-7895-54D72C0B6D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D36EA0-9127-EE05-EAB9-DE090FE91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4487" y="6356350"/>
            <a:ext cx="1892410" cy="365125"/>
          </a:xfrm>
          <a:prstGeom prst="rect">
            <a:avLst/>
          </a:prstGeom>
        </p:spPr>
        <p:txBody>
          <a:bodyPr/>
          <a:lstStyle>
            <a:lvl1pPr algn="r">
              <a:defRPr sz="2000" b="1">
                <a:latin typeface="Abadi" panose="020B0604020104020204" pitchFamily="34" charset="0"/>
              </a:defRPr>
            </a:lvl1pPr>
          </a:lstStyle>
          <a:p>
            <a:fld id="{CAD67E92-D382-44B7-ADA8-D2CDA399388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486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AD395-DA71-071F-E340-C3AF8A7A8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533180"/>
            <a:ext cx="10230035" cy="2387600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l"/>
            <a:r>
              <a:rPr lang="en-US" altLang="ko-KR" sz="4000" dirty="0">
                <a:latin typeface="Abadi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Case for In-Memory Random Scatter-Gather for Fast Graph Processing</a:t>
            </a:r>
            <a:endParaRPr lang="en-US" altLang="ko-KR" sz="2100" b="1" dirty="0">
              <a:latin typeface="Abadi" panose="020B0604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9EB83EB-CC65-ACCA-FCA5-F261B643E9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105620"/>
            <a:ext cx="9396549" cy="92777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l">
              <a:lnSpc>
                <a:spcPct val="110000"/>
              </a:lnSpc>
            </a:pPr>
            <a:r>
              <a:rPr lang="en-US" altLang="ko-KR" dirty="0" err="1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Changmin</a:t>
            </a:r>
            <a:r>
              <a:rPr lang="en-US" altLang="ko-KR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Shin, </a:t>
            </a:r>
            <a:r>
              <a:rPr lang="en-US" altLang="ko-KR" dirty="0" err="1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Taehee</a:t>
            </a:r>
            <a:r>
              <a:rPr lang="en-US" altLang="ko-KR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Kwon, </a:t>
            </a:r>
            <a:r>
              <a:rPr lang="en-US" altLang="ko-KR" dirty="0" err="1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Jaeyong</a:t>
            </a:r>
            <a:r>
              <a:rPr lang="en-US" altLang="ko-KR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Song, </a:t>
            </a:r>
            <a:r>
              <a:rPr lang="en-US" altLang="ko-KR" dirty="0" err="1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Jaehyung</a:t>
            </a:r>
            <a:r>
              <a:rPr lang="en-US" altLang="ko-KR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Ju, </a:t>
            </a:r>
          </a:p>
          <a:p>
            <a:pPr algn="l">
              <a:lnSpc>
                <a:spcPct val="110000"/>
              </a:lnSpc>
            </a:pPr>
            <a:r>
              <a:rPr lang="en-US" altLang="ko-KR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Frank Liu, </a:t>
            </a:r>
            <a:r>
              <a:rPr lang="en-US" altLang="ko-KR" dirty="0" err="1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Yeonkyu</a:t>
            </a:r>
            <a:r>
              <a:rPr lang="en-US" altLang="ko-KR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Choi and </a:t>
            </a:r>
            <a:r>
              <a:rPr lang="en-US" altLang="ko-KR" dirty="0" err="1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Jinho</a:t>
            </a:r>
            <a:r>
              <a:rPr lang="en-US" altLang="ko-KR" dirty="0">
                <a:latin typeface="Abadi" panose="020B0604020104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Lee</a:t>
            </a:r>
            <a:endParaRPr lang="en-US" altLang="ko-KR" b="0" i="1" baseline="30000" dirty="0">
              <a:latin typeface="Abadi" panose="020B0604020104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D4799B-96CE-9337-1C34-E809A53A4E53}"/>
              </a:ext>
            </a:extLst>
          </p:cNvPr>
          <p:cNvSpPr txBox="1"/>
          <p:nvPr/>
        </p:nvSpPr>
        <p:spPr>
          <a:xfrm>
            <a:off x="4397204" y="6145795"/>
            <a:ext cx="7551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abadi" panose="020B0604020104020204" pitchFamily="34" charset="0"/>
              </a:rPr>
              <a:t>1</a:t>
            </a:r>
            <a:endParaRPr lang="en-US" altLang="ko-KR" sz="1800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698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A15D664-4A5D-1C4F-3D29-D237F1AA0845}"/>
              </a:ext>
            </a:extLst>
          </p:cNvPr>
          <p:cNvSpPr/>
          <p:nvPr/>
        </p:nvSpPr>
        <p:spPr>
          <a:xfrm>
            <a:off x="3303713" y="2720314"/>
            <a:ext cx="5581650" cy="2456056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7BD6B20-EEA6-3E7B-918B-13C05D4379BB}"/>
              </a:ext>
            </a:extLst>
          </p:cNvPr>
          <p:cNvSpPr/>
          <p:nvPr/>
        </p:nvSpPr>
        <p:spPr>
          <a:xfrm>
            <a:off x="3392744" y="2800613"/>
            <a:ext cx="2237570" cy="229527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ko-Kore-KR" dirty="0"/>
              <a:t>Introduction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BEDF9A51-E977-6C14-DA62-13AE92538B9B}"/>
              </a:ext>
            </a:extLst>
          </p:cNvPr>
          <p:cNvSpPr txBox="1">
            <a:spLocks/>
          </p:cNvSpPr>
          <p:nvPr/>
        </p:nvSpPr>
        <p:spPr>
          <a:xfrm>
            <a:off x="489968" y="965060"/>
            <a:ext cx="11134174" cy="16275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8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 Wall Problem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800" b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Various Types of Function in Memory</a:t>
            </a:r>
            <a:endParaRPr lang="en-US" altLang="ko-KR" sz="2800" b="0" dirty="0">
              <a:solidFill>
                <a:schemeClr val="bg1">
                  <a:lumMod val="8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28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0DEFAC7-EEC3-36DE-94C7-7873809CF3C0}"/>
              </a:ext>
            </a:extLst>
          </p:cNvPr>
          <p:cNvSpPr/>
          <p:nvPr/>
        </p:nvSpPr>
        <p:spPr>
          <a:xfrm>
            <a:off x="3303709" y="5956055"/>
            <a:ext cx="5581651" cy="365125"/>
          </a:xfrm>
          <a:prstGeom prst="roundRect">
            <a:avLst>
              <a:gd name="adj" fmla="val 1628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514A4463-E114-192A-FE31-2D7C5368A180}"/>
              </a:ext>
            </a:extLst>
          </p:cNvPr>
          <p:cNvCxnSpPr>
            <a:cxnSpLocks/>
          </p:cNvCxnSpPr>
          <p:nvPr/>
        </p:nvCxnSpPr>
        <p:spPr>
          <a:xfrm>
            <a:off x="3435240" y="5559851"/>
            <a:ext cx="5318592" cy="0"/>
          </a:xfrm>
          <a:prstGeom prst="line">
            <a:avLst/>
          </a:prstGeom>
          <a:ln w="381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72E04B64-0D92-C9DA-9577-0088B0B9D7BD}"/>
              </a:ext>
            </a:extLst>
          </p:cNvPr>
          <p:cNvSpPr txBox="1"/>
          <p:nvPr/>
        </p:nvSpPr>
        <p:spPr>
          <a:xfrm>
            <a:off x="8668554" y="5378246"/>
            <a:ext cx="12176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FF505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Busy!</a:t>
            </a:r>
            <a:endParaRPr lang="en-US" altLang="ko-KR" sz="3600" dirty="0">
              <a:solidFill>
                <a:srgbClr val="FF505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4FB30C-7361-391E-2721-948905F9A5CF}"/>
              </a:ext>
            </a:extLst>
          </p:cNvPr>
          <p:cNvSpPr txBox="1"/>
          <p:nvPr/>
        </p:nvSpPr>
        <p:spPr>
          <a:xfrm>
            <a:off x="3303711" y="2269712"/>
            <a:ext cx="5581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DRAM</a:t>
            </a:r>
            <a:endParaRPr lang="ko-KR" altLang="en-US" sz="2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FB7A566-C1C1-871C-BF04-4CC931B24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4012303"/>
              </p:ext>
            </p:extLst>
          </p:nvPr>
        </p:nvGraphicFramePr>
        <p:xfrm>
          <a:off x="3470129" y="3158131"/>
          <a:ext cx="208280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6796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41597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392338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16601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72271446"/>
                    </a:ext>
                  </a:extLst>
                </a:gridCol>
              </a:tblGrid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70CAB43-D8CD-9A64-C3AF-AC460C5DFB15}"/>
              </a:ext>
            </a:extLst>
          </p:cNvPr>
          <p:cNvSpPr/>
          <p:nvPr/>
        </p:nvSpPr>
        <p:spPr>
          <a:xfrm>
            <a:off x="3477116" y="3151508"/>
            <a:ext cx="2082800" cy="1219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53C415-5EA3-A22E-79C8-82F03DA5EC11}"/>
              </a:ext>
            </a:extLst>
          </p:cNvPr>
          <p:cNvSpPr txBox="1"/>
          <p:nvPr/>
        </p:nvSpPr>
        <p:spPr>
          <a:xfrm>
            <a:off x="3392744" y="2782175"/>
            <a:ext cx="2237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Bank0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E9642E5-98BC-F720-4517-08A2886A1DF8}"/>
              </a:ext>
            </a:extLst>
          </p:cNvPr>
          <p:cNvSpPr/>
          <p:nvPr/>
        </p:nvSpPr>
        <p:spPr>
          <a:xfrm>
            <a:off x="3471986" y="4370709"/>
            <a:ext cx="2082800" cy="248517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F9C905B-3D59-9C82-49A4-130F6A97F24E}"/>
              </a:ext>
            </a:extLst>
          </p:cNvPr>
          <p:cNvSpPr/>
          <p:nvPr/>
        </p:nvSpPr>
        <p:spPr>
          <a:xfrm>
            <a:off x="6561394" y="2801040"/>
            <a:ext cx="2237570" cy="229527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58C997C3-AAE3-9A90-38C6-E6C7E2BD7D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726206"/>
              </p:ext>
            </p:extLst>
          </p:nvPr>
        </p:nvGraphicFramePr>
        <p:xfrm>
          <a:off x="6638779" y="3158558"/>
          <a:ext cx="208280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6796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41597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392338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16601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72271446"/>
                    </a:ext>
                  </a:extLst>
                </a:gridCol>
              </a:tblGrid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A3A70A68-0FC8-97D3-8ECF-3195BBC9D1E5}"/>
              </a:ext>
            </a:extLst>
          </p:cNvPr>
          <p:cNvSpPr/>
          <p:nvPr/>
        </p:nvSpPr>
        <p:spPr>
          <a:xfrm>
            <a:off x="6645766" y="3151935"/>
            <a:ext cx="2082800" cy="1219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BE2789-54D2-E299-A7D1-49E962CD66CF}"/>
              </a:ext>
            </a:extLst>
          </p:cNvPr>
          <p:cNvSpPr txBox="1"/>
          <p:nvPr/>
        </p:nvSpPr>
        <p:spPr>
          <a:xfrm>
            <a:off x="6561394" y="2782602"/>
            <a:ext cx="2237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Bank15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AB29333-1126-3DC4-61B6-F104F31A9A72}"/>
              </a:ext>
            </a:extLst>
          </p:cNvPr>
          <p:cNvSpPr/>
          <p:nvPr/>
        </p:nvSpPr>
        <p:spPr>
          <a:xfrm>
            <a:off x="6644250" y="4371136"/>
            <a:ext cx="2082800" cy="248517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313E81-BC0A-7F57-87A2-0250EA58C5B3}"/>
              </a:ext>
            </a:extLst>
          </p:cNvPr>
          <p:cNvSpPr txBox="1"/>
          <p:nvPr/>
        </p:nvSpPr>
        <p:spPr>
          <a:xfrm>
            <a:off x="5630315" y="3644869"/>
            <a:ext cx="93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…</a:t>
            </a:r>
            <a:endParaRPr lang="ko-KR" altLang="en-US" sz="2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86E6433-C77F-42D9-5A96-5C4D2B53A4CD}"/>
              </a:ext>
            </a:extLst>
          </p:cNvPr>
          <p:cNvCxnSpPr>
            <a:cxnSpLocks/>
          </p:cNvCxnSpPr>
          <p:nvPr/>
        </p:nvCxnSpPr>
        <p:spPr>
          <a:xfrm>
            <a:off x="4513386" y="4619226"/>
            <a:ext cx="0" cy="940625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1AA678C-E19F-2A7C-05B8-02652DDB07C8}"/>
              </a:ext>
            </a:extLst>
          </p:cNvPr>
          <p:cNvCxnSpPr>
            <a:cxnSpLocks/>
          </p:cNvCxnSpPr>
          <p:nvPr/>
        </p:nvCxnSpPr>
        <p:spPr>
          <a:xfrm>
            <a:off x="6094536" y="5559850"/>
            <a:ext cx="0" cy="383481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22D6767-F952-2E99-CD4D-444CF25AA000}"/>
              </a:ext>
            </a:extLst>
          </p:cNvPr>
          <p:cNvCxnSpPr>
            <a:cxnSpLocks/>
          </p:cNvCxnSpPr>
          <p:nvPr/>
        </p:nvCxnSpPr>
        <p:spPr>
          <a:xfrm>
            <a:off x="7685650" y="4619225"/>
            <a:ext cx="0" cy="940625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917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A15D664-4A5D-1C4F-3D29-D237F1AA0845}"/>
              </a:ext>
            </a:extLst>
          </p:cNvPr>
          <p:cNvSpPr/>
          <p:nvPr/>
        </p:nvSpPr>
        <p:spPr>
          <a:xfrm>
            <a:off x="3303713" y="2720314"/>
            <a:ext cx="5581650" cy="2456056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7BD6B20-EEA6-3E7B-918B-13C05D4379BB}"/>
              </a:ext>
            </a:extLst>
          </p:cNvPr>
          <p:cNvSpPr/>
          <p:nvPr/>
        </p:nvSpPr>
        <p:spPr>
          <a:xfrm>
            <a:off x="3392744" y="2800613"/>
            <a:ext cx="2237570" cy="229527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ko-Kore-KR" dirty="0"/>
              <a:t>Introduction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BEDF9A51-E977-6C14-DA62-13AE92538B9B}"/>
              </a:ext>
            </a:extLst>
          </p:cNvPr>
          <p:cNvSpPr txBox="1">
            <a:spLocks/>
          </p:cNvSpPr>
          <p:nvPr/>
        </p:nvSpPr>
        <p:spPr>
          <a:xfrm>
            <a:off x="489968" y="965060"/>
            <a:ext cx="11134174" cy="16275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800" b="0" dirty="0">
                <a:solidFill>
                  <a:schemeClr val="bg1">
                    <a:lumMod val="8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Memory Wall Problem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8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Wingdings" panose="05000000000000000000" pitchFamily="2" charset="2"/>
              </a:rPr>
              <a:t>Various Types of Function in Memory</a:t>
            </a:r>
            <a:endParaRPr lang="en-US" altLang="ko-KR" sz="28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28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0DEFAC7-EEC3-36DE-94C7-7873809CF3C0}"/>
              </a:ext>
            </a:extLst>
          </p:cNvPr>
          <p:cNvSpPr/>
          <p:nvPr/>
        </p:nvSpPr>
        <p:spPr>
          <a:xfrm>
            <a:off x="3303709" y="5956055"/>
            <a:ext cx="5581651" cy="365125"/>
          </a:xfrm>
          <a:prstGeom prst="roundRect">
            <a:avLst>
              <a:gd name="adj" fmla="val 1628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514A4463-E114-192A-FE31-2D7C5368A180}"/>
              </a:ext>
            </a:extLst>
          </p:cNvPr>
          <p:cNvCxnSpPr>
            <a:cxnSpLocks/>
          </p:cNvCxnSpPr>
          <p:nvPr/>
        </p:nvCxnSpPr>
        <p:spPr>
          <a:xfrm>
            <a:off x="3435240" y="5559851"/>
            <a:ext cx="53185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4FB30C-7361-391E-2721-948905F9A5CF}"/>
              </a:ext>
            </a:extLst>
          </p:cNvPr>
          <p:cNvSpPr txBox="1"/>
          <p:nvPr/>
        </p:nvSpPr>
        <p:spPr>
          <a:xfrm>
            <a:off x="3303711" y="2269712"/>
            <a:ext cx="5581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Function in Memory</a:t>
            </a:r>
            <a:endParaRPr lang="ko-KR" altLang="en-US" sz="2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FB7A566-C1C1-871C-BF04-4CC931B2437E}"/>
              </a:ext>
            </a:extLst>
          </p:cNvPr>
          <p:cNvGraphicFramePr>
            <a:graphicFrameLocks noGrp="1"/>
          </p:cNvGraphicFramePr>
          <p:nvPr/>
        </p:nvGraphicFramePr>
        <p:xfrm>
          <a:off x="3470129" y="3158131"/>
          <a:ext cx="208280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6796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41597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392338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16601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72271446"/>
                    </a:ext>
                  </a:extLst>
                </a:gridCol>
              </a:tblGrid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70CAB43-D8CD-9A64-C3AF-AC460C5DFB15}"/>
              </a:ext>
            </a:extLst>
          </p:cNvPr>
          <p:cNvSpPr/>
          <p:nvPr/>
        </p:nvSpPr>
        <p:spPr>
          <a:xfrm>
            <a:off x="3477116" y="3151508"/>
            <a:ext cx="2082800" cy="1219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53C415-5EA3-A22E-79C8-82F03DA5EC11}"/>
              </a:ext>
            </a:extLst>
          </p:cNvPr>
          <p:cNvSpPr txBox="1"/>
          <p:nvPr/>
        </p:nvSpPr>
        <p:spPr>
          <a:xfrm>
            <a:off x="3392744" y="2782175"/>
            <a:ext cx="2237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Bank0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E9642E5-98BC-F720-4517-08A2886A1DF8}"/>
              </a:ext>
            </a:extLst>
          </p:cNvPr>
          <p:cNvSpPr/>
          <p:nvPr/>
        </p:nvSpPr>
        <p:spPr>
          <a:xfrm>
            <a:off x="3471986" y="4370709"/>
            <a:ext cx="2082800" cy="248517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F9C905B-3D59-9C82-49A4-130F6A97F24E}"/>
              </a:ext>
            </a:extLst>
          </p:cNvPr>
          <p:cNvSpPr/>
          <p:nvPr/>
        </p:nvSpPr>
        <p:spPr>
          <a:xfrm>
            <a:off x="6561394" y="2801040"/>
            <a:ext cx="2237570" cy="229527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58C997C3-AAE3-9A90-38C6-E6C7E2BD7DC3}"/>
              </a:ext>
            </a:extLst>
          </p:cNvPr>
          <p:cNvGraphicFramePr>
            <a:graphicFrameLocks noGrp="1"/>
          </p:cNvGraphicFramePr>
          <p:nvPr/>
        </p:nvGraphicFramePr>
        <p:xfrm>
          <a:off x="6638779" y="3158558"/>
          <a:ext cx="208280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6796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41597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392338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16601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72271446"/>
                    </a:ext>
                  </a:extLst>
                </a:gridCol>
              </a:tblGrid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A3A70A68-0FC8-97D3-8ECF-3195BBC9D1E5}"/>
              </a:ext>
            </a:extLst>
          </p:cNvPr>
          <p:cNvSpPr/>
          <p:nvPr/>
        </p:nvSpPr>
        <p:spPr>
          <a:xfrm>
            <a:off x="6645766" y="3151935"/>
            <a:ext cx="2082800" cy="1219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BE2789-54D2-E299-A7D1-49E962CD66CF}"/>
              </a:ext>
            </a:extLst>
          </p:cNvPr>
          <p:cNvSpPr txBox="1"/>
          <p:nvPr/>
        </p:nvSpPr>
        <p:spPr>
          <a:xfrm>
            <a:off x="6561394" y="2782602"/>
            <a:ext cx="2237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Bank15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AB29333-1126-3DC4-61B6-F104F31A9A72}"/>
              </a:ext>
            </a:extLst>
          </p:cNvPr>
          <p:cNvSpPr/>
          <p:nvPr/>
        </p:nvSpPr>
        <p:spPr>
          <a:xfrm>
            <a:off x="6644250" y="4371136"/>
            <a:ext cx="2082800" cy="248517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313E81-BC0A-7F57-87A2-0250EA58C5B3}"/>
              </a:ext>
            </a:extLst>
          </p:cNvPr>
          <p:cNvSpPr txBox="1"/>
          <p:nvPr/>
        </p:nvSpPr>
        <p:spPr>
          <a:xfrm>
            <a:off x="5630315" y="3644869"/>
            <a:ext cx="93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…</a:t>
            </a:r>
            <a:endParaRPr lang="ko-KR" altLang="en-US" sz="2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86E6433-C77F-42D9-5A96-5C4D2B53A4CD}"/>
              </a:ext>
            </a:extLst>
          </p:cNvPr>
          <p:cNvCxnSpPr>
            <a:cxnSpLocks/>
          </p:cNvCxnSpPr>
          <p:nvPr/>
        </p:nvCxnSpPr>
        <p:spPr>
          <a:xfrm>
            <a:off x="4513386" y="5176370"/>
            <a:ext cx="0" cy="383481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1AA678C-E19F-2A7C-05B8-02652DDB07C8}"/>
              </a:ext>
            </a:extLst>
          </p:cNvPr>
          <p:cNvCxnSpPr>
            <a:cxnSpLocks/>
          </p:cNvCxnSpPr>
          <p:nvPr/>
        </p:nvCxnSpPr>
        <p:spPr>
          <a:xfrm>
            <a:off x="6094536" y="5559850"/>
            <a:ext cx="0" cy="383481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22D6767-F952-2E99-CD4D-444CF25AA000}"/>
              </a:ext>
            </a:extLst>
          </p:cNvPr>
          <p:cNvCxnSpPr>
            <a:cxnSpLocks/>
          </p:cNvCxnSpPr>
          <p:nvPr/>
        </p:nvCxnSpPr>
        <p:spPr>
          <a:xfrm>
            <a:off x="7678615" y="5176370"/>
            <a:ext cx="7035" cy="383480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B1CE201-7385-5AE5-7DA5-DBB42364C256}"/>
              </a:ext>
            </a:extLst>
          </p:cNvPr>
          <p:cNvSpPr/>
          <p:nvPr/>
        </p:nvSpPr>
        <p:spPr>
          <a:xfrm>
            <a:off x="3477116" y="4686027"/>
            <a:ext cx="2082800" cy="336436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 Unit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CD6FB60-A671-DB18-D5FF-64D2348F55EA}"/>
              </a:ext>
            </a:extLst>
          </p:cNvPr>
          <p:cNvSpPr/>
          <p:nvPr/>
        </p:nvSpPr>
        <p:spPr>
          <a:xfrm>
            <a:off x="6638779" y="4687927"/>
            <a:ext cx="2082800" cy="336436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 Unit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30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A15D664-4A5D-1C4F-3D29-D237F1AA0845}"/>
              </a:ext>
            </a:extLst>
          </p:cNvPr>
          <p:cNvSpPr/>
          <p:nvPr/>
        </p:nvSpPr>
        <p:spPr>
          <a:xfrm>
            <a:off x="3303713" y="2720314"/>
            <a:ext cx="5581650" cy="2456056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7BD6B20-EEA6-3E7B-918B-13C05D4379BB}"/>
              </a:ext>
            </a:extLst>
          </p:cNvPr>
          <p:cNvSpPr/>
          <p:nvPr/>
        </p:nvSpPr>
        <p:spPr>
          <a:xfrm>
            <a:off x="3392744" y="2800613"/>
            <a:ext cx="2237570" cy="229527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ko-Kore-KR" dirty="0"/>
              <a:t>Introduction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BEDF9A51-E977-6C14-DA62-13AE92538B9B}"/>
              </a:ext>
            </a:extLst>
          </p:cNvPr>
          <p:cNvSpPr txBox="1">
            <a:spLocks/>
          </p:cNvSpPr>
          <p:nvPr/>
        </p:nvSpPr>
        <p:spPr>
          <a:xfrm>
            <a:off x="489968" y="965060"/>
            <a:ext cx="11134174" cy="16275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8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Huge Processor Overhead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2800" b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Necessity to Consider Data Types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28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0DEFAC7-EEC3-36DE-94C7-7873809CF3C0}"/>
              </a:ext>
            </a:extLst>
          </p:cNvPr>
          <p:cNvSpPr/>
          <p:nvPr/>
        </p:nvSpPr>
        <p:spPr>
          <a:xfrm>
            <a:off x="3303709" y="5956055"/>
            <a:ext cx="5581651" cy="365125"/>
          </a:xfrm>
          <a:prstGeom prst="roundRect">
            <a:avLst>
              <a:gd name="adj" fmla="val 1628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514A4463-E114-192A-FE31-2D7C5368A180}"/>
              </a:ext>
            </a:extLst>
          </p:cNvPr>
          <p:cNvCxnSpPr>
            <a:cxnSpLocks/>
          </p:cNvCxnSpPr>
          <p:nvPr/>
        </p:nvCxnSpPr>
        <p:spPr>
          <a:xfrm>
            <a:off x="3435240" y="5559851"/>
            <a:ext cx="531859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B4FB30C-7361-391E-2721-948905F9A5CF}"/>
              </a:ext>
            </a:extLst>
          </p:cNvPr>
          <p:cNvSpPr txBox="1"/>
          <p:nvPr/>
        </p:nvSpPr>
        <p:spPr>
          <a:xfrm>
            <a:off x="3303711" y="2269712"/>
            <a:ext cx="55816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Function in Memory</a:t>
            </a:r>
            <a:endParaRPr lang="ko-KR" altLang="en-US" sz="2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2FB7A566-C1C1-871C-BF04-4CC931B2437E}"/>
              </a:ext>
            </a:extLst>
          </p:cNvPr>
          <p:cNvGraphicFramePr>
            <a:graphicFrameLocks noGrp="1"/>
          </p:cNvGraphicFramePr>
          <p:nvPr/>
        </p:nvGraphicFramePr>
        <p:xfrm>
          <a:off x="3470129" y="3158131"/>
          <a:ext cx="208280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6796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41597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392338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16601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72271446"/>
                    </a:ext>
                  </a:extLst>
                </a:gridCol>
              </a:tblGrid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37" name="직사각형 36">
            <a:extLst>
              <a:ext uri="{FF2B5EF4-FFF2-40B4-BE49-F238E27FC236}">
                <a16:creationId xmlns:a16="http://schemas.microsoft.com/office/drawing/2014/main" id="{D70CAB43-D8CD-9A64-C3AF-AC460C5DFB15}"/>
              </a:ext>
            </a:extLst>
          </p:cNvPr>
          <p:cNvSpPr/>
          <p:nvPr/>
        </p:nvSpPr>
        <p:spPr>
          <a:xfrm>
            <a:off x="3477116" y="3151508"/>
            <a:ext cx="2082800" cy="1219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53C415-5EA3-A22E-79C8-82F03DA5EC11}"/>
              </a:ext>
            </a:extLst>
          </p:cNvPr>
          <p:cNvSpPr txBox="1"/>
          <p:nvPr/>
        </p:nvSpPr>
        <p:spPr>
          <a:xfrm>
            <a:off x="3392744" y="2782175"/>
            <a:ext cx="2237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Bank0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E9642E5-98BC-F720-4517-08A2886A1DF8}"/>
              </a:ext>
            </a:extLst>
          </p:cNvPr>
          <p:cNvSpPr/>
          <p:nvPr/>
        </p:nvSpPr>
        <p:spPr>
          <a:xfrm>
            <a:off x="3471986" y="4370709"/>
            <a:ext cx="2082800" cy="248517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F9C905B-3D59-9C82-49A4-130F6A97F24E}"/>
              </a:ext>
            </a:extLst>
          </p:cNvPr>
          <p:cNvSpPr/>
          <p:nvPr/>
        </p:nvSpPr>
        <p:spPr>
          <a:xfrm>
            <a:off x="6561394" y="2801040"/>
            <a:ext cx="2237570" cy="2295274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58C997C3-AAE3-9A90-38C6-E6C7E2BD7DC3}"/>
              </a:ext>
            </a:extLst>
          </p:cNvPr>
          <p:cNvGraphicFramePr>
            <a:graphicFrameLocks noGrp="1"/>
          </p:cNvGraphicFramePr>
          <p:nvPr/>
        </p:nvGraphicFramePr>
        <p:xfrm>
          <a:off x="6638779" y="3158558"/>
          <a:ext cx="2082800" cy="1219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6796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5415974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3923385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6166011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72271446"/>
                    </a:ext>
                  </a:extLst>
                </a:gridCol>
              </a:tblGrid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221034"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44" name="직사각형 43">
            <a:extLst>
              <a:ext uri="{FF2B5EF4-FFF2-40B4-BE49-F238E27FC236}">
                <a16:creationId xmlns:a16="http://schemas.microsoft.com/office/drawing/2014/main" id="{A3A70A68-0FC8-97D3-8ECF-3195BBC9D1E5}"/>
              </a:ext>
            </a:extLst>
          </p:cNvPr>
          <p:cNvSpPr/>
          <p:nvPr/>
        </p:nvSpPr>
        <p:spPr>
          <a:xfrm>
            <a:off x="6645766" y="3151935"/>
            <a:ext cx="2082800" cy="121920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BE2789-54D2-E299-A7D1-49E962CD66CF}"/>
              </a:ext>
            </a:extLst>
          </p:cNvPr>
          <p:cNvSpPr txBox="1"/>
          <p:nvPr/>
        </p:nvSpPr>
        <p:spPr>
          <a:xfrm>
            <a:off x="6561394" y="2782602"/>
            <a:ext cx="2237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Bank15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AB29333-1126-3DC4-61B6-F104F31A9A72}"/>
              </a:ext>
            </a:extLst>
          </p:cNvPr>
          <p:cNvSpPr/>
          <p:nvPr/>
        </p:nvSpPr>
        <p:spPr>
          <a:xfrm>
            <a:off x="6644250" y="4371136"/>
            <a:ext cx="2082800" cy="248517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E313E81-BC0A-7F57-87A2-0250EA58C5B3}"/>
              </a:ext>
            </a:extLst>
          </p:cNvPr>
          <p:cNvSpPr txBox="1"/>
          <p:nvPr/>
        </p:nvSpPr>
        <p:spPr>
          <a:xfrm>
            <a:off x="5630315" y="3644869"/>
            <a:ext cx="931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…</a:t>
            </a:r>
            <a:endParaRPr lang="ko-KR" altLang="en-US" sz="2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086E6433-C77F-42D9-5A96-5C4D2B53A4CD}"/>
              </a:ext>
            </a:extLst>
          </p:cNvPr>
          <p:cNvCxnSpPr>
            <a:cxnSpLocks/>
          </p:cNvCxnSpPr>
          <p:nvPr/>
        </p:nvCxnSpPr>
        <p:spPr>
          <a:xfrm>
            <a:off x="4513386" y="5176370"/>
            <a:ext cx="0" cy="383481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1AA678C-E19F-2A7C-05B8-02652DDB07C8}"/>
              </a:ext>
            </a:extLst>
          </p:cNvPr>
          <p:cNvCxnSpPr>
            <a:cxnSpLocks/>
          </p:cNvCxnSpPr>
          <p:nvPr/>
        </p:nvCxnSpPr>
        <p:spPr>
          <a:xfrm>
            <a:off x="6094536" y="5559850"/>
            <a:ext cx="0" cy="383481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E22D6767-F952-2E99-CD4D-444CF25AA000}"/>
              </a:ext>
            </a:extLst>
          </p:cNvPr>
          <p:cNvCxnSpPr>
            <a:cxnSpLocks/>
          </p:cNvCxnSpPr>
          <p:nvPr/>
        </p:nvCxnSpPr>
        <p:spPr>
          <a:xfrm>
            <a:off x="7678615" y="5176370"/>
            <a:ext cx="7035" cy="383480"/>
          </a:xfrm>
          <a:prstGeom prst="straightConnector1">
            <a:avLst/>
          </a:prstGeom>
          <a:ln w="28575">
            <a:solidFill>
              <a:srgbClr val="595959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B1CE201-7385-5AE5-7DA5-DBB42364C256}"/>
              </a:ext>
            </a:extLst>
          </p:cNvPr>
          <p:cNvSpPr/>
          <p:nvPr/>
        </p:nvSpPr>
        <p:spPr>
          <a:xfrm>
            <a:off x="3477116" y="4686027"/>
            <a:ext cx="2082800" cy="336436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 Unit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CD6FB60-A671-DB18-D5FF-64D2348F55EA}"/>
              </a:ext>
            </a:extLst>
          </p:cNvPr>
          <p:cNvSpPr/>
          <p:nvPr/>
        </p:nvSpPr>
        <p:spPr>
          <a:xfrm>
            <a:off x="6638779" y="4687927"/>
            <a:ext cx="2082800" cy="336436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Processing Unit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1E6AB70C-5E09-76F7-5F0F-3588AEB78E32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4518516" y="3361168"/>
            <a:ext cx="4738026" cy="1324859"/>
          </a:xfrm>
          <a:prstGeom prst="straightConnector1">
            <a:avLst/>
          </a:prstGeom>
          <a:ln w="38100">
            <a:solidFill>
              <a:srgbClr val="FF5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2DD9A4D-C05B-AE21-E125-468C141CA5C7}"/>
              </a:ext>
            </a:extLst>
          </p:cNvPr>
          <p:cNvCxnSpPr>
            <a:cxnSpLocks/>
          </p:cNvCxnSpPr>
          <p:nvPr/>
        </p:nvCxnSpPr>
        <p:spPr>
          <a:xfrm flipH="1">
            <a:off x="7670398" y="3359268"/>
            <a:ext cx="1593131" cy="1324928"/>
          </a:xfrm>
          <a:prstGeom prst="straightConnector1">
            <a:avLst/>
          </a:prstGeom>
          <a:ln w="38100">
            <a:solidFill>
              <a:srgbClr val="FF5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52C284-CC73-B36A-CB1C-F6C8E5A31E8A}"/>
              </a:ext>
            </a:extLst>
          </p:cNvPr>
          <p:cNvSpPr txBox="1"/>
          <p:nvPr/>
        </p:nvSpPr>
        <p:spPr>
          <a:xfrm>
            <a:off x="9263529" y="2840103"/>
            <a:ext cx="22400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Area Overhead </a:t>
            </a:r>
          </a:p>
          <a:p>
            <a:pPr algn="ctr"/>
            <a:r>
              <a:rPr lang="ko-KR" altLang="en-US" sz="2400" b="1" dirty="0">
                <a:latin typeface="Tahoma" panose="020B0604030504040204" pitchFamily="34" charset="0"/>
                <a:cs typeface="Tahoma" panose="020B0604030504040204" pitchFamily="34" charset="0"/>
              </a:rPr>
              <a:t>≳</a:t>
            </a:r>
            <a:r>
              <a:rPr lang="ko-KR" altLang="en-US" sz="2400" dirty="0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sz="2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50%</a:t>
            </a:r>
            <a:endParaRPr lang="en-US" altLang="ko-KR" sz="3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306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ko-Kore-KR" dirty="0"/>
              <a:t>Piccolo (Pick &amp; Collect)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72" name="부제목 2">
            <a:extLst>
              <a:ext uri="{FF2B5EF4-FFF2-40B4-BE49-F238E27FC236}">
                <a16:creationId xmlns:a16="http://schemas.microsoft.com/office/drawing/2014/main" id="{AB7B8FA7-5B9E-293F-CEDE-D6987AC64173}"/>
              </a:ext>
            </a:extLst>
          </p:cNvPr>
          <p:cNvSpPr txBox="1">
            <a:spLocks/>
          </p:cNvSpPr>
          <p:nvPr/>
        </p:nvSpPr>
        <p:spPr>
          <a:xfrm>
            <a:off x="528913" y="2114832"/>
            <a:ext cx="11134174" cy="262833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altLang="ko-KR" sz="3600" dirty="0">
                <a:ea typeface="Calibri" panose="020F0502020204030204" pitchFamily="34" charset="0"/>
                <a:cs typeface="Calibri" panose="020F0502020204030204" pitchFamily="34" charset="0"/>
              </a:rPr>
              <a:t>Utilizing internal bandwidth w/ low overhead</a:t>
            </a:r>
          </a:p>
          <a:p>
            <a:pPr marL="1085850" lvl="2" indent="-4572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3200" dirty="0">
                <a:ea typeface="Calibri" panose="020F0502020204030204" pitchFamily="34" charset="0"/>
                <a:cs typeface="Calibri" panose="020F0502020204030204" pitchFamily="34" charset="0"/>
              </a:rPr>
              <a:t>Independent of data types</a:t>
            </a:r>
          </a:p>
          <a:p>
            <a:pPr marL="1085850" lvl="2" indent="-4572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3200" dirty="0">
                <a:ea typeface="Calibri" panose="020F0502020204030204" pitchFamily="34" charset="0"/>
                <a:cs typeface="Calibri" panose="020F0502020204030204" pitchFamily="34" charset="0"/>
              </a:rPr>
              <a:t>Low area overhead</a:t>
            </a:r>
          </a:p>
          <a:p>
            <a:pPr marL="1085850" lvl="2" indent="-4572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3200" dirty="0">
                <a:ea typeface="Calibri" panose="020F0502020204030204" pitchFamily="34" charset="0"/>
                <a:cs typeface="Calibri" panose="020F0502020204030204" pitchFamily="34" charset="0"/>
              </a:rPr>
              <a:t>Minimal change to DRAM</a:t>
            </a:r>
            <a:endParaRPr lang="en-US" altLang="ko-KR" sz="3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3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484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en-US" dirty="0"/>
              <a:t>Piccolo: Architecture</a:t>
            </a:r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2" name="부제목 2">
            <a:extLst>
              <a:ext uri="{FF2B5EF4-FFF2-40B4-BE49-F238E27FC236}">
                <a16:creationId xmlns:a16="http://schemas.microsoft.com/office/drawing/2014/main" id="{E1092385-8845-26E3-FC2F-456D73F07430}"/>
              </a:ext>
            </a:extLst>
          </p:cNvPr>
          <p:cNvSpPr txBox="1">
            <a:spLocks/>
          </p:cNvSpPr>
          <p:nvPr/>
        </p:nvSpPr>
        <p:spPr>
          <a:xfrm>
            <a:off x="8775869" y="2466308"/>
            <a:ext cx="3552379" cy="25516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   Activated Row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= Cache Line (64B)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= Target Word (8B)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B506EBE-884D-61AE-FDCC-F3FBF1837572}"/>
              </a:ext>
            </a:extLst>
          </p:cNvPr>
          <p:cNvSpPr/>
          <p:nvPr/>
        </p:nvSpPr>
        <p:spPr>
          <a:xfrm>
            <a:off x="223562" y="1558453"/>
            <a:ext cx="7762939" cy="3233890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08C471-987F-DABD-92A4-B0CC35E284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571889"/>
              </p:ext>
            </p:extLst>
          </p:nvPr>
        </p:nvGraphicFramePr>
        <p:xfrm>
          <a:off x="358139" y="1924929"/>
          <a:ext cx="7490460" cy="1625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711741418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808323846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780592476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582383355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65723387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77718517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3274696960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B84239-D733-0FAF-5A71-D9864B58EA94}"/>
              </a:ext>
            </a:extLst>
          </p:cNvPr>
          <p:cNvSpPr txBox="1"/>
          <p:nvPr/>
        </p:nvSpPr>
        <p:spPr>
          <a:xfrm>
            <a:off x="416839" y="1547977"/>
            <a:ext cx="750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 </a:t>
            </a:r>
            <a:r>
              <a:rPr lang="en-US" altLang="ko-KR" dirty="0" err="1">
                <a:latin typeface="Tahoma" panose="020B0604030504040204" pitchFamily="34" charset="0"/>
                <a:cs typeface="Tahoma" panose="020B0604030504040204" pitchFamily="34" charset="0"/>
              </a:rPr>
              <a:t>i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3B7CEC-A3FB-1391-8ABA-CAE4358AA207}"/>
              </a:ext>
            </a:extLst>
          </p:cNvPr>
          <p:cNvSpPr/>
          <p:nvPr/>
        </p:nvSpPr>
        <p:spPr>
          <a:xfrm>
            <a:off x="358140" y="1924929"/>
            <a:ext cx="7490460" cy="16255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2717F70-9703-DFF3-35B8-3409356EF72E}"/>
              </a:ext>
            </a:extLst>
          </p:cNvPr>
          <p:cNvSpPr/>
          <p:nvPr/>
        </p:nvSpPr>
        <p:spPr>
          <a:xfrm>
            <a:off x="354591" y="3558119"/>
            <a:ext cx="7492420" cy="458207"/>
          </a:xfrm>
          <a:prstGeom prst="roundRect">
            <a:avLst>
              <a:gd name="adj" fmla="val 193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0643787-80D6-1918-4058-0CB7434AA5F9}"/>
              </a:ext>
            </a:extLst>
          </p:cNvPr>
          <p:cNvSpPr/>
          <p:nvPr/>
        </p:nvSpPr>
        <p:spPr>
          <a:xfrm>
            <a:off x="2929009" y="4792343"/>
            <a:ext cx="2478928" cy="3651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Chip</a:t>
            </a:r>
            <a:r>
              <a:rPr lang="ko-KR" alt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I/O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부제목 2">
            <a:extLst>
              <a:ext uri="{FF2B5EF4-FFF2-40B4-BE49-F238E27FC236}">
                <a16:creationId xmlns:a16="http://schemas.microsoft.com/office/drawing/2014/main" id="{3F371B91-BCAA-A597-669E-FCDE515BD97E}"/>
              </a:ext>
            </a:extLst>
          </p:cNvPr>
          <p:cNvSpPr txBox="1">
            <a:spLocks/>
          </p:cNvSpPr>
          <p:nvPr/>
        </p:nvSpPr>
        <p:spPr>
          <a:xfrm>
            <a:off x="416840" y="1063570"/>
            <a:ext cx="7503266" cy="4661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2500"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DRAM w/ Piccolo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8454871" y="3709717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8147037" y="3142434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cxnSp>
        <p:nvCxnSpPr>
          <p:cNvPr id="78" name="직선 화살표 연결선 77"/>
          <p:cNvCxnSpPr/>
          <p:nvPr/>
        </p:nvCxnSpPr>
        <p:spPr>
          <a:xfrm>
            <a:off x="7612573" y="2737714"/>
            <a:ext cx="11632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F82B8FA-C380-76F5-4233-12D223EFEDA2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4220308" y="5336362"/>
            <a:ext cx="4007237" cy="74429"/>
          </a:xfrm>
          <a:prstGeom prst="straightConnector1">
            <a:avLst/>
          </a:prstGeom>
          <a:ln w="38100">
            <a:solidFill>
              <a:srgbClr val="FF505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부제목 2">
            <a:extLst>
              <a:ext uri="{FF2B5EF4-FFF2-40B4-BE49-F238E27FC236}">
                <a16:creationId xmlns:a16="http://schemas.microsoft.com/office/drawing/2014/main" id="{BA0378A8-799B-BB35-0120-BE54B6330FC0}"/>
              </a:ext>
            </a:extLst>
          </p:cNvPr>
          <p:cNvSpPr txBox="1">
            <a:spLocks/>
          </p:cNvSpPr>
          <p:nvPr/>
        </p:nvSpPr>
        <p:spPr>
          <a:xfrm>
            <a:off x="8227545" y="5034512"/>
            <a:ext cx="3552379" cy="6037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2800" dirty="0">
                <a:solidFill>
                  <a:srgbClr val="FF5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8 Memory Transaction</a:t>
            </a:r>
          </a:p>
        </p:txBody>
      </p:sp>
      <p:sp>
        <p:nvSpPr>
          <p:cNvPr id="12" name="화살표: 위쪽/아래쪽 11">
            <a:extLst>
              <a:ext uri="{FF2B5EF4-FFF2-40B4-BE49-F238E27FC236}">
                <a16:creationId xmlns:a16="http://schemas.microsoft.com/office/drawing/2014/main" id="{F7DBB86F-B5BE-F179-BF9B-2ECF59EDCDEC}"/>
              </a:ext>
            </a:extLst>
          </p:cNvPr>
          <p:cNvSpPr/>
          <p:nvPr/>
        </p:nvSpPr>
        <p:spPr>
          <a:xfrm>
            <a:off x="4128868" y="5157468"/>
            <a:ext cx="91440" cy="468506"/>
          </a:xfrm>
          <a:prstGeom prst="up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23743765-3D5F-5EBE-1B29-9C3EC8E1F9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478805"/>
              </p:ext>
            </p:extLst>
          </p:nvPr>
        </p:nvGraphicFramePr>
        <p:xfrm>
          <a:off x="372054" y="3620232"/>
          <a:ext cx="608778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778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85C48A19-2FCD-D9ED-FDF5-67ACA7DF5C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744953"/>
              </p:ext>
            </p:extLst>
          </p:nvPr>
        </p:nvGraphicFramePr>
        <p:xfrm>
          <a:off x="980832" y="362023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FDAA152D-5306-645E-E7A3-CAC654B488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884668"/>
              </p:ext>
            </p:extLst>
          </p:nvPr>
        </p:nvGraphicFramePr>
        <p:xfrm>
          <a:off x="160630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06F6A1CE-7617-79A8-47C4-43751E153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6920675"/>
              </p:ext>
            </p:extLst>
          </p:nvPr>
        </p:nvGraphicFramePr>
        <p:xfrm>
          <a:off x="223114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22D45514-8C6E-B8B7-17C1-62D9374D99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869185"/>
              </p:ext>
            </p:extLst>
          </p:nvPr>
        </p:nvGraphicFramePr>
        <p:xfrm>
          <a:off x="285598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33117888-E4E6-38B8-65F5-D4B765F3FB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5622533"/>
              </p:ext>
            </p:extLst>
          </p:nvPr>
        </p:nvGraphicFramePr>
        <p:xfrm>
          <a:off x="348082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4A066446-DF09-9F49-47B9-08F2A474D0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793273"/>
              </p:ext>
            </p:extLst>
          </p:nvPr>
        </p:nvGraphicFramePr>
        <p:xfrm>
          <a:off x="410566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108D65E2-AB89-99F8-B312-7075FCE22C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7418479"/>
              </p:ext>
            </p:extLst>
          </p:nvPr>
        </p:nvGraphicFramePr>
        <p:xfrm>
          <a:off x="473050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40A4E68E-E45E-CFF4-D897-E3BEAE56EF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934988"/>
              </p:ext>
            </p:extLst>
          </p:nvPr>
        </p:nvGraphicFramePr>
        <p:xfrm>
          <a:off x="535534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63B1C0F4-8C6C-305A-5B85-3E0D76177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6544175"/>
              </p:ext>
            </p:extLst>
          </p:nvPr>
        </p:nvGraphicFramePr>
        <p:xfrm>
          <a:off x="598018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49A0D630-E5C2-AFD3-653C-8209800A6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669384"/>
              </p:ext>
            </p:extLst>
          </p:nvPr>
        </p:nvGraphicFramePr>
        <p:xfrm>
          <a:off x="6605027" y="362101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36EFE505-AC3C-33B9-506D-CA922A74F5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510194"/>
              </p:ext>
            </p:extLst>
          </p:nvPr>
        </p:nvGraphicFramePr>
        <p:xfrm>
          <a:off x="7222248" y="3621017"/>
          <a:ext cx="618732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732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727956"/>
              </p:ext>
            </p:extLst>
          </p:nvPr>
        </p:nvGraphicFramePr>
        <p:xfrm>
          <a:off x="372054" y="3620228"/>
          <a:ext cx="608778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778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980832" y="3620228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160630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223114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285598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898457"/>
              </p:ext>
            </p:extLst>
          </p:nvPr>
        </p:nvGraphicFramePr>
        <p:xfrm>
          <a:off x="348082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10566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473050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535534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598018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660502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/>
        </p:nvGraphicFramePr>
        <p:xfrm>
          <a:off x="7222248" y="3621013"/>
          <a:ext cx="618732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732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BFAD91-9201-1980-6E14-F10E315DA144}"/>
              </a:ext>
            </a:extLst>
          </p:cNvPr>
          <p:cNvSpPr/>
          <p:nvPr/>
        </p:nvSpPr>
        <p:spPr>
          <a:xfrm>
            <a:off x="412076" y="5625974"/>
            <a:ext cx="7503269" cy="365125"/>
          </a:xfrm>
          <a:prstGeom prst="roundRect">
            <a:avLst>
              <a:gd name="adj" fmla="val 1628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0F3577-FB92-5502-6199-3FA3D53EAAC8}"/>
              </a:ext>
            </a:extLst>
          </p:cNvPr>
          <p:cNvSpPr/>
          <p:nvPr/>
        </p:nvSpPr>
        <p:spPr>
          <a:xfrm>
            <a:off x="6939050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372054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1442093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2394468" y="3621013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3947332" y="3621013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4292622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5630615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7536973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50291D-73A6-8605-EF05-EAAF5E2BBE73}"/>
              </a:ext>
            </a:extLst>
          </p:cNvPr>
          <p:cNvSpPr txBox="1"/>
          <p:nvPr/>
        </p:nvSpPr>
        <p:spPr>
          <a:xfrm>
            <a:off x="1015781" y="5617521"/>
            <a:ext cx="62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A834F1-CF77-F015-A1EC-E7741ABC58CA}"/>
              </a:ext>
            </a:extLst>
          </p:cNvPr>
          <p:cNvSpPr txBox="1"/>
          <p:nvPr/>
        </p:nvSpPr>
        <p:spPr>
          <a:xfrm>
            <a:off x="356498" y="3598249"/>
            <a:ext cx="7494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8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05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  <p:set>
                                      <p:cBhvr>
                                        <p:cTn id="1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0.00185 L -3.75E-6 0.0963 L 0.28425 0.0963 L 0.28425 0.29537 " pathEditMode="relative" rAng="0" ptsTypes="AAAA">
                                      <p:cBhvr>
                                        <p:cTn id="1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206" y="14676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1.11111E-6 L 1.25E-6 0.09259 L 0.26328 0.09259 L 0.26328 0.29352 " pathEditMode="relative" rAng="0" ptsTypes="AAAA">
                                      <p:cBhvr>
                                        <p:cTn id="19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164" y="1467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11111E-6 L 4.16667E-7 0.09444 L 0.2026 0.09444 L 0.2026 0.29583 " pathEditMode="relative" rAng="0" ptsTypes="AAAA">
                                      <p:cBhvr>
                                        <p:cTn id="22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30" y="14792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0.00046 L -4.16667E-6 0.09398 L 0.20261 0.09398 L 0.20261 0.29537 " pathEditMode="relative" rAng="0" ptsTypes="AAAA">
                                      <p:cBhvr>
                                        <p:cTn id="24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130" y="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3.7037E-7 L -3.75E-6 0.09259 L 0.13112 0.09259 L 0.13112 0.29537 " pathEditMode="relative" rAng="0" ptsTypes="AAAA">
                                      <p:cBhvr>
                                        <p:cTn id="27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9" y="14769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7037E-7 L 8.33333E-7 0.09259 L 0.13112 0.09259 L 0.13112 0.29537 " pathEditMode="relative" rAng="0" ptsTypes="AAAA">
                                      <p:cBhvr>
                                        <p:cTn id="29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9" y="14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069 L 2.29167E-6 0.09491 L 0.01028 0.09491 L 0.01028 0.29514 " pathEditMode="relative" rAng="0" ptsTypes="AAAA">
                                      <p:cBhvr>
                                        <p:cTn id="32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8" y="1479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0.00069 L -2.91667E-6 0.09491 L 0.01029 0.09491 L 0.01029 0.29514 " pathEditMode="relative" rAng="0" ptsTypes="AAAA">
                                      <p:cBhvr>
                                        <p:cTn id="34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8" y="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250"/>
                            </p:stCondLst>
                            <p:childTnLst>
                              <p:par>
                                <p:cTn id="36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07 L 1.66667E-6 0.09467 L -0.01198 0.09467 L -0.01198 0.29537 " pathEditMode="relative" rAng="0" ptsTypes="AAAA">
                                      <p:cBhvr>
                                        <p:cTn id="37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9" y="14792"/>
                                    </p:animMotion>
                                  </p:childTnLst>
                                </p:cTn>
                              </p:par>
                              <p:par>
                                <p:cTn id="3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0.00069 L 4.16667E-7 0.09468 L -0.01198 0.09468 L -0.01198 0.2956 " pathEditMode="relative" rAng="0" ptsTypes="AAAA">
                                      <p:cBhvr>
                                        <p:cTn id="39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9" y="1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046 L -3.75E-6 0.09954 L -0.11549 0.09954 L -0.11549 0.29537 " pathEditMode="relative" rAng="0" ptsTypes="AAAA">
                                      <p:cBhvr>
                                        <p:cTn id="42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81" y="14792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0046 L -3.75E-6 0.09954 L -0.11549 0.09954 L -0.11549 0.29537 " pathEditMode="relative" rAng="0" ptsTypes="AAAA">
                                      <p:cBhvr>
                                        <p:cTn id="44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81" y="147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750"/>
                            </p:stCondLst>
                            <p:childTnLst>
                              <p:par>
                                <p:cTn id="4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023 L 2.29167E-6 0.10023 L -0.21641 0.10023 L -0.21641 0.29514 " pathEditMode="relative" rAng="0" ptsTypes="AAAA">
                                      <p:cBhvr>
                                        <p:cTn id="47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20" y="14769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0.00023 L 4.375E-6 0.10023 L -0.21641 0.10023 L -0.21641 0.29514 " pathEditMode="relative" rAng="0" ptsTypes="AAAA">
                                      <p:cBhvr>
                                        <p:cTn id="4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820" y="14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0.00023 L -3.95833E-6 0.10139 L -0.25924 0.10139 L -0.25924 0.29514 " pathEditMode="relative" rAng="0" ptsTypes="AAAA">
                                      <p:cBhvr>
                                        <p:cTn id="52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69" y="14745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00046 L 1.66667E-6 0.10139 L -0.25925 0.10139 L -0.25925 0.29491 " pathEditMode="relative" rAng="0" ptsTypes="AAAA">
                                      <p:cBhvr>
                                        <p:cTn id="54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969" y="1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8" grpId="0" animBg="1"/>
      <p:bldP spid="26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en-US" dirty="0"/>
              <a:t>Piccolo: Architecture</a:t>
            </a:r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72" name="부제목 2">
            <a:extLst>
              <a:ext uri="{FF2B5EF4-FFF2-40B4-BE49-F238E27FC236}">
                <a16:creationId xmlns:a16="http://schemas.microsoft.com/office/drawing/2014/main" id="{E1092385-8845-26E3-FC2F-456D73F07430}"/>
              </a:ext>
            </a:extLst>
          </p:cNvPr>
          <p:cNvSpPr txBox="1">
            <a:spLocks/>
          </p:cNvSpPr>
          <p:nvPr/>
        </p:nvSpPr>
        <p:spPr>
          <a:xfrm>
            <a:off x="8775869" y="2466308"/>
            <a:ext cx="3552379" cy="25516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   Activated Row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= Cache Line (64B)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= Target Word (8B)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= Column Offset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B506EBE-884D-61AE-FDCC-F3FBF1837572}"/>
              </a:ext>
            </a:extLst>
          </p:cNvPr>
          <p:cNvSpPr/>
          <p:nvPr/>
        </p:nvSpPr>
        <p:spPr>
          <a:xfrm>
            <a:off x="223562" y="1558453"/>
            <a:ext cx="7762939" cy="3233890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08C471-987F-DABD-92A4-B0CC35E28451}"/>
              </a:ext>
            </a:extLst>
          </p:cNvPr>
          <p:cNvGraphicFramePr>
            <a:graphicFrameLocks noGrp="1"/>
          </p:cNvGraphicFramePr>
          <p:nvPr/>
        </p:nvGraphicFramePr>
        <p:xfrm>
          <a:off x="358139" y="1924929"/>
          <a:ext cx="7490460" cy="1625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711741418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808323846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780592476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582383355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65723387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77718517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3274696960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B84239-D733-0FAF-5A71-D9864B58EA94}"/>
              </a:ext>
            </a:extLst>
          </p:cNvPr>
          <p:cNvSpPr txBox="1"/>
          <p:nvPr/>
        </p:nvSpPr>
        <p:spPr>
          <a:xfrm>
            <a:off x="416839" y="1547977"/>
            <a:ext cx="750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 </a:t>
            </a:r>
            <a:r>
              <a:rPr lang="en-US" altLang="ko-KR" dirty="0" err="1">
                <a:latin typeface="Tahoma" panose="020B0604030504040204" pitchFamily="34" charset="0"/>
                <a:cs typeface="Tahoma" panose="020B0604030504040204" pitchFamily="34" charset="0"/>
              </a:rPr>
              <a:t>i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3B7CEC-A3FB-1391-8ABA-CAE4358AA207}"/>
              </a:ext>
            </a:extLst>
          </p:cNvPr>
          <p:cNvSpPr/>
          <p:nvPr/>
        </p:nvSpPr>
        <p:spPr>
          <a:xfrm>
            <a:off x="358140" y="1924929"/>
            <a:ext cx="7490460" cy="16255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2717F70-9703-DFF3-35B8-3409356EF72E}"/>
              </a:ext>
            </a:extLst>
          </p:cNvPr>
          <p:cNvSpPr/>
          <p:nvPr/>
        </p:nvSpPr>
        <p:spPr>
          <a:xfrm>
            <a:off x="359354" y="3558119"/>
            <a:ext cx="7492420" cy="458207"/>
          </a:xfrm>
          <a:prstGeom prst="roundRect">
            <a:avLst>
              <a:gd name="adj" fmla="val 193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0643787-80D6-1918-4058-0CB7434AA5F9}"/>
              </a:ext>
            </a:extLst>
          </p:cNvPr>
          <p:cNvSpPr/>
          <p:nvPr/>
        </p:nvSpPr>
        <p:spPr>
          <a:xfrm>
            <a:off x="2929009" y="4792343"/>
            <a:ext cx="2478928" cy="3651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Chip</a:t>
            </a:r>
            <a:r>
              <a:rPr lang="ko-KR" alt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I/O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부제목 2">
            <a:extLst>
              <a:ext uri="{FF2B5EF4-FFF2-40B4-BE49-F238E27FC236}">
                <a16:creationId xmlns:a16="http://schemas.microsoft.com/office/drawing/2014/main" id="{3F371B91-BCAA-A597-669E-FCDE515BD97E}"/>
              </a:ext>
            </a:extLst>
          </p:cNvPr>
          <p:cNvSpPr txBox="1">
            <a:spLocks/>
          </p:cNvSpPr>
          <p:nvPr/>
        </p:nvSpPr>
        <p:spPr>
          <a:xfrm>
            <a:off x="416840" y="1063570"/>
            <a:ext cx="7503266" cy="4661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2500"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DRAM w/ Piccolo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8454871" y="3709717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8147037" y="3142434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cxnSp>
        <p:nvCxnSpPr>
          <p:cNvPr id="78" name="직선 화살표 연결선 77"/>
          <p:cNvCxnSpPr/>
          <p:nvPr/>
        </p:nvCxnSpPr>
        <p:spPr>
          <a:xfrm>
            <a:off x="7612573" y="2737714"/>
            <a:ext cx="11632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화살표: 위쪽/아래쪽 11">
            <a:extLst>
              <a:ext uri="{FF2B5EF4-FFF2-40B4-BE49-F238E27FC236}">
                <a16:creationId xmlns:a16="http://schemas.microsoft.com/office/drawing/2014/main" id="{F7DBB86F-B5BE-F179-BF9B-2ECF59EDCDEC}"/>
              </a:ext>
            </a:extLst>
          </p:cNvPr>
          <p:cNvSpPr/>
          <p:nvPr/>
        </p:nvSpPr>
        <p:spPr>
          <a:xfrm>
            <a:off x="4128868" y="5157468"/>
            <a:ext cx="91440" cy="468506"/>
          </a:xfrm>
          <a:prstGeom prst="up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BFAD91-9201-1980-6E14-F10E315DA144}"/>
              </a:ext>
            </a:extLst>
          </p:cNvPr>
          <p:cNvSpPr/>
          <p:nvPr/>
        </p:nvSpPr>
        <p:spPr>
          <a:xfrm>
            <a:off x="416839" y="5625974"/>
            <a:ext cx="7503269" cy="365125"/>
          </a:xfrm>
          <a:prstGeom prst="roundRect">
            <a:avLst>
              <a:gd name="adj" fmla="val 1628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AEB290C-CD92-0915-4E4F-EC4A41EA4884}"/>
              </a:ext>
            </a:extLst>
          </p:cNvPr>
          <p:cNvSpPr/>
          <p:nvPr/>
        </p:nvSpPr>
        <p:spPr>
          <a:xfrm>
            <a:off x="3460996" y="4133224"/>
            <a:ext cx="1380876" cy="552479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Internal Ctrl.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89E2C8-8BF9-65AC-6FBB-F9127DFF5ED8}"/>
              </a:ext>
            </a:extLst>
          </p:cNvPr>
          <p:cNvSpPr/>
          <p:nvPr/>
        </p:nvSpPr>
        <p:spPr>
          <a:xfrm>
            <a:off x="8459139" y="4292240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0A673F9-E26B-4D99-A459-71A71FD003A0}"/>
              </a:ext>
            </a:extLst>
          </p:cNvPr>
          <p:cNvSpPr/>
          <p:nvPr/>
        </p:nvSpPr>
        <p:spPr>
          <a:xfrm>
            <a:off x="3845040" y="5649667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DAC9145-26C3-0737-239F-925B8D125CBC}"/>
              </a:ext>
            </a:extLst>
          </p:cNvPr>
          <p:cNvSpPr/>
          <p:nvPr/>
        </p:nvSpPr>
        <p:spPr>
          <a:xfrm>
            <a:off x="3921727" y="5649667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5206C48-BA8F-4512-6C62-8197E9254D54}"/>
              </a:ext>
            </a:extLst>
          </p:cNvPr>
          <p:cNvSpPr/>
          <p:nvPr/>
        </p:nvSpPr>
        <p:spPr>
          <a:xfrm>
            <a:off x="3998394" y="5649667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A0A4A1F-81C1-F51C-14EA-A4B00AA3DEEB}"/>
              </a:ext>
            </a:extLst>
          </p:cNvPr>
          <p:cNvSpPr/>
          <p:nvPr/>
        </p:nvSpPr>
        <p:spPr>
          <a:xfrm>
            <a:off x="4074379" y="5649667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DB601614-CA87-E6F5-BF2A-B1044F71732D}"/>
              </a:ext>
            </a:extLst>
          </p:cNvPr>
          <p:cNvSpPr/>
          <p:nvPr/>
        </p:nvSpPr>
        <p:spPr>
          <a:xfrm>
            <a:off x="4152328" y="5649667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73E5934-218E-7289-46DC-352DAF2AE060}"/>
              </a:ext>
            </a:extLst>
          </p:cNvPr>
          <p:cNvSpPr/>
          <p:nvPr/>
        </p:nvSpPr>
        <p:spPr>
          <a:xfrm>
            <a:off x="4230761" y="5649667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26E644C-DB32-32D4-C0D5-8B29D95D110C}"/>
              </a:ext>
            </a:extLst>
          </p:cNvPr>
          <p:cNvSpPr/>
          <p:nvPr/>
        </p:nvSpPr>
        <p:spPr>
          <a:xfrm>
            <a:off x="4307813" y="5649667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AB78DDB-4456-D7D0-35E2-1FC89C4C5764}"/>
              </a:ext>
            </a:extLst>
          </p:cNvPr>
          <p:cNvSpPr/>
          <p:nvPr/>
        </p:nvSpPr>
        <p:spPr>
          <a:xfrm>
            <a:off x="4384360" y="5649667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D3915D-8D83-7620-CF58-4975E460B3E0}"/>
              </a:ext>
            </a:extLst>
          </p:cNvPr>
          <p:cNvSpPr/>
          <p:nvPr/>
        </p:nvSpPr>
        <p:spPr>
          <a:xfrm>
            <a:off x="6613002" y="4133225"/>
            <a:ext cx="655200" cy="360000"/>
          </a:xfrm>
          <a:prstGeom prst="roundRect">
            <a:avLst>
              <a:gd name="adj" fmla="val 1938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A63184-3DEF-38DF-6E44-A93E0D30876F}"/>
              </a:ext>
            </a:extLst>
          </p:cNvPr>
          <p:cNvSpPr txBox="1"/>
          <p:nvPr/>
        </p:nvSpPr>
        <p:spPr>
          <a:xfrm>
            <a:off x="3851562" y="4430093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Offset Buffer</a:t>
            </a:r>
            <a:endParaRPr lang="ko-KR" altLang="en-US" sz="18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DDDC2C-65B4-3FAF-5B3A-527E508D4A30}"/>
              </a:ext>
            </a:extLst>
          </p:cNvPr>
          <p:cNvSpPr txBox="1"/>
          <p:nvPr/>
        </p:nvSpPr>
        <p:spPr>
          <a:xfrm>
            <a:off x="-1769390" y="4430093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Buffer</a:t>
            </a:r>
            <a:endParaRPr lang="ko-KR" altLang="en-US" sz="18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7330439F-1EC5-613F-EDC5-DBD4128E2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376263"/>
              </p:ext>
            </p:extLst>
          </p:nvPr>
        </p:nvGraphicFramePr>
        <p:xfrm>
          <a:off x="372428" y="3621357"/>
          <a:ext cx="608778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778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2B77CF3E-2657-ED5F-9B37-6CD93E0F89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092110"/>
              </p:ext>
            </p:extLst>
          </p:nvPr>
        </p:nvGraphicFramePr>
        <p:xfrm>
          <a:off x="981206" y="3621357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69" name="표 68">
            <a:extLst>
              <a:ext uri="{FF2B5EF4-FFF2-40B4-BE49-F238E27FC236}">
                <a16:creationId xmlns:a16="http://schemas.microsoft.com/office/drawing/2014/main" id="{9BD3CB01-812B-764B-0AF8-CB8475FF58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733992"/>
              </p:ext>
            </p:extLst>
          </p:nvPr>
        </p:nvGraphicFramePr>
        <p:xfrm>
          <a:off x="160668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9F0EA052-DBB8-02DE-4E4C-1DC8F5AAAC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5159115"/>
              </p:ext>
            </p:extLst>
          </p:nvPr>
        </p:nvGraphicFramePr>
        <p:xfrm>
          <a:off x="223152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71" name="표 70">
            <a:extLst>
              <a:ext uri="{FF2B5EF4-FFF2-40B4-BE49-F238E27FC236}">
                <a16:creationId xmlns:a16="http://schemas.microsoft.com/office/drawing/2014/main" id="{45139A05-A37E-6C58-5E77-78DCAE1DB2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651377"/>
              </p:ext>
            </p:extLst>
          </p:nvPr>
        </p:nvGraphicFramePr>
        <p:xfrm>
          <a:off x="285636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73" name="표 72">
            <a:extLst>
              <a:ext uri="{FF2B5EF4-FFF2-40B4-BE49-F238E27FC236}">
                <a16:creationId xmlns:a16="http://schemas.microsoft.com/office/drawing/2014/main" id="{B3286168-881E-073B-EDA9-C08EED694C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7780"/>
              </p:ext>
            </p:extLst>
          </p:nvPr>
        </p:nvGraphicFramePr>
        <p:xfrm>
          <a:off x="348120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03D69FC4-613A-8827-0B3B-9AE502D141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59090"/>
              </p:ext>
            </p:extLst>
          </p:nvPr>
        </p:nvGraphicFramePr>
        <p:xfrm>
          <a:off x="410604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F511119F-EE6D-3DDF-BEEF-0211403FF1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56943"/>
              </p:ext>
            </p:extLst>
          </p:nvPr>
        </p:nvGraphicFramePr>
        <p:xfrm>
          <a:off x="473088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DD9E6DE9-E037-95A9-BCBD-31F6B5E7D6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4288197"/>
              </p:ext>
            </p:extLst>
          </p:nvPr>
        </p:nvGraphicFramePr>
        <p:xfrm>
          <a:off x="535572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80" name="표 79">
            <a:extLst>
              <a:ext uri="{FF2B5EF4-FFF2-40B4-BE49-F238E27FC236}">
                <a16:creationId xmlns:a16="http://schemas.microsoft.com/office/drawing/2014/main" id="{39CB70DC-70C1-D3EB-9763-4A1171382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580937"/>
              </p:ext>
            </p:extLst>
          </p:nvPr>
        </p:nvGraphicFramePr>
        <p:xfrm>
          <a:off x="598056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81" name="표 80">
            <a:extLst>
              <a:ext uri="{FF2B5EF4-FFF2-40B4-BE49-F238E27FC236}">
                <a16:creationId xmlns:a16="http://schemas.microsoft.com/office/drawing/2014/main" id="{9A01FAF1-525D-EF12-C1F6-686A18EEA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518347"/>
              </p:ext>
            </p:extLst>
          </p:nvPr>
        </p:nvGraphicFramePr>
        <p:xfrm>
          <a:off x="6605401" y="3622142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5D31CF99-91B2-AACD-F135-939EF7DA18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1288"/>
              </p:ext>
            </p:extLst>
          </p:nvPr>
        </p:nvGraphicFramePr>
        <p:xfrm>
          <a:off x="7222622" y="3622142"/>
          <a:ext cx="618732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732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2" name="표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703269"/>
              </p:ext>
            </p:extLst>
          </p:nvPr>
        </p:nvGraphicFramePr>
        <p:xfrm>
          <a:off x="372054" y="3620228"/>
          <a:ext cx="608778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778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980832" y="3620228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160630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223114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285598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348082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10566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473050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535534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598018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660502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/>
        </p:nvGraphicFramePr>
        <p:xfrm>
          <a:off x="7222248" y="3621013"/>
          <a:ext cx="618732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732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F59BABD-1DDB-C6A1-DB45-C96A60ACB478}"/>
              </a:ext>
            </a:extLst>
          </p:cNvPr>
          <p:cNvCxnSpPr>
            <a:cxnSpLocks/>
          </p:cNvCxnSpPr>
          <p:nvPr/>
        </p:nvCxnSpPr>
        <p:spPr>
          <a:xfrm>
            <a:off x="4848225" y="4313194"/>
            <a:ext cx="1756167" cy="0"/>
          </a:xfrm>
          <a:prstGeom prst="line">
            <a:avLst/>
          </a:prstGeom>
          <a:ln w="12700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8349E90B-20CA-C99A-65C0-27892C6D1EAF}"/>
              </a:ext>
            </a:extLst>
          </p:cNvPr>
          <p:cNvCxnSpPr>
            <a:cxnSpLocks/>
          </p:cNvCxnSpPr>
          <p:nvPr/>
        </p:nvCxnSpPr>
        <p:spPr>
          <a:xfrm flipH="1">
            <a:off x="1647250" y="4313194"/>
            <a:ext cx="1826294" cy="31"/>
          </a:xfrm>
          <a:prstGeom prst="line">
            <a:avLst/>
          </a:prstGeom>
          <a:ln w="12700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BDAA6B8-5BB8-0721-3F30-24865702311D}"/>
              </a:ext>
            </a:extLst>
          </p:cNvPr>
          <p:cNvSpPr/>
          <p:nvPr/>
        </p:nvSpPr>
        <p:spPr>
          <a:xfrm>
            <a:off x="992050" y="4133225"/>
            <a:ext cx="655200" cy="360000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150291D-73A6-8605-EF05-EAAF5E2BBE73}"/>
              </a:ext>
            </a:extLst>
          </p:cNvPr>
          <p:cNvSpPr txBox="1"/>
          <p:nvPr/>
        </p:nvSpPr>
        <p:spPr>
          <a:xfrm>
            <a:off x="1015781" y="5617521"/>
            <a:ext cx="62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80F3577-FB92-5502-6199-3FA3D53EAAC8}"/>
              </a:ext>
            </a:extLst>
          </p:cNvPr>
          <p:cNvSpPr/>
          <p:nvPr/>
        </p:nvSpPr>
        <p:spPr>
          <a:xfrm>
            <a:off x="6939050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372054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1442093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2394468" y="3621013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3947332" y="3621013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4292622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5630615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7536973" y="3620228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4C64D621-3C8B-BBCC-13E2-4AEE32C6D3E1}"/>
              </a:ext>
            </a:extLst>
          </p:cNvPr>
          <p:cNvSpPr txBox="1"/>
          <p:nvPr/>
        </p:nvSpPr>
        <p:spPr>
          <a:xfrm>
            <a:off x="356498" y="3598249"/>
            <a:ext cx="7494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8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727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4.16667E-7 -0.21828 L 0.22878 -0.21828 " pathEditMode="relative" rAng="0" ptsTypes="AAA">
                                      <p:cBhvr>
                                        <p:cTn id="6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092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4.16667E-7 -0.21828 L 0.22878 -0.21828 " pathEditMode="relative" rAng="0" ptsTypes="AAA">
                                      <p:cBhvr>
                                        <p:cTn id="8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0926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4.16667E-7 -0.21828 L 0.22878 -0.21828 " pathEditMode="relative" rAng="0" ptsTypes="AAA">
                                      <p:cBhvr>
                                        <p:cTn id="10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092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3.7037E-6 L 4.16667E-7 -0.21828 L 0.22878 -0.21828 " pathEditMode="relative" rAng="0" ptsTypes="AAA">
                                      <p:cBhvr>
                                        <p:cTn id="12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092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3.7037E-6 L 2.08333E-7 -0.21828 L 0.22878 -0.21828 " pathEditMode="relative" rAng="0" ptsTypes="AAA">
                                      <p:cBhvr>
                                        <p:cTn id="1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092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6 L -2.08333E-7 -0.21828 L 0.22878 -0.21828 " pathEditMode="relative" rAng="0" ptsTypes="AAA">
                                      <p:cBhvr>
                                        <p:cTn id="16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092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6 L -2.08333E-7 -0.21828 L 0.22878 -0.21828 " pathEditMode="relative" rAng="0" ptsTypes="AAA">
                                      <p:cBhvr>
                                        <p:cTn id="18" dur="2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092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3.7037E-6 L -2.08333E-7 -0.21828 L 0.22878 -0.21828 " pathEditMode="relative" rAng="0" ptsTypes="AAA">
                                      <p:cBhvr>
                                        <p:cTn id="2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32" y="-10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5234 0.07917 " pathEditMode="relative" ptsTypes="AA">
                                      <p:cBhvr>
                                        <p:cTn id="24" dur="2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39 0.00023 L 0.05222 0.07801 " pathEditMode="relative" rAng="0" ptsTypes="AA">
                                      <p:cBhvr>
                                        <p:cTn id="26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0" y="3889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"/>
                            </p:stCondLst>
                            <p:childTnLst>
                              <p:par>
                                <p:cTn id="30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0.00023 L 0.00156 0.08032 " pathEditMode="relative" rAng="0" ptsTypes="AA">
                                      <p:cBhvr>
                                        <p:cTn id="31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" y="4005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00023 L -0.02903 0.07801 " pathEditMode="relative" rAng="0" ptsTypes="AA">
                                      <p:cBhvr>
                                        <p:cTn id="33" dur="2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58" y="3889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078 0.07778 " pathEditMode="relative" ptsTypes="AA">
                                      <p:cBhvr>
                                        <p:cTn id="38" dur="2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046 L -0.10065 0.07778 " pathEditMode="relative" rAng="0" ptsTypes="AA">
                                      <p:cBhvr>
                                        <p:cTn id="40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987" y="3866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50"/>
                            </p:stCondLst>
                            <p:childTnLst>
                              <p:par>
                                <p:cTn id="44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0313 0.07801 " pathEditMode="relative" ptsTypes="AA">
                                      <p:cBhvr>
                                        <p:cTn id="45" dur="2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39 0.00023 L -0.222 0.07755 " pathEditMode="relative" rAng="0" ptsTypes="AA">
                                      <p:cBhvr>
                                        <p:cTn id="47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120" y="386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547 0.07732 " pathEditMode="relative" ptsTypes="AA">
                                      <p:cBhvr>
                                        <p:cTn id="52" dur="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7 L -0.24388 0.07801 " pathEditMode="relative" rAng="0" ptsTypes="AA">
                                      <p:cBhvr>
                                        <p:cTn id="54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88" y="393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703 0.07963 " pathEditMode="relative" ptsTypes="AA">
                                      <p:cBhvr>
                                        <p:cTn id="59" dur="2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93 L -0.347 0.07778 " pathEditMode="relative" rAng="0" ptsTypes="AA">
                                      <p:cBhvr>
                                        <p:cTn id="61" dur="25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344" y="3935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45899 0.07708 " pathEditMode="relative" ptsTypes="AA">
                                      <p:cBhvr>
                                        <p:cTn id="66" dur="25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046 L -0.44792 0.07801 " pathEditMode="relative" rAng="0" ptsTypes="AA">
                                      <p:cBhvr>
                                        <p:cTn id="6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409" y="3866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750"/>
                            </p:stCondLst>
                            <p:childTnLst>
                              <p:par>
                                <p:cTn id="7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0899 0.07778 " pathEditMode="relative" ptsTypes="AA">
                                      <p:cBhvr>
                                        <p:cTn id="73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-0.00116 L -0.49075 0.07801 " pathEditMode="relative" rAng="0" ptsTypes="AA">
                                      <p:cBhvr>
                                        <p:cTn id="75" dur="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544" y="3958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29" grpId="0" animBg="1"/>
      <p:bldP spid="29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28" grpId="0" animBg="1"/>
      <p:bldP spid="26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en-US" dirty="0"/>
              <a:t>Piccolo: Architecture</a:t>
            </a:r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72" name="부제목 2">
            <a:extLst>
              <a:ext uri="{FF2B5EF4-FFF2-40B4-BE49-F238E27FC236}">
                <a16:creationId xmlns:a16="http://schemas.microsoft.com/office/drawing/2014/main" id="{E1092385-8845-26E3-FC2F-456D73F07430}"/>
              </a:ext>
            </a:extLst>
          </p:cNvPr>
          <p:cNvSpPr txBox="1">
            <a:spLocks/>
          </p:cNvSpPr>
          <p:nvPr/>
        </p:nvSpPr>
        <p:spPr>
          <a:xfrm>
            <a:off x="8775869" y="2466308"/>
            <a:ext cx="3552379" cy="255167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   Activated Row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= Cache Line (64B)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= Target Word (8B)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= Column Offset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B506EBE-884D-61AE-FDCC-F3FBF1837572}"/>
              </a:ext>
            </a:extLst>
          </p:cNvPr>
          <p:cNvSpPr/>
          <p:nvPr/>
        </p:nvSpPr>
        <p:spPr>
          <a:xfrm>
            <a:off x="223562" y="1558453"/>
            <a:ext cx="7762939" cy="3233890"/>
          </a:xfrm>
          <a:prstGeom prst="roundRect">
            <a:avLst>
              <a:gd name="adj" fmla="val 2468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308C471-987F-DABD-92A4-B0CC35E28451}"/>
              </a:ext>
            </a:extLst>
          </p:cNvPr>
          <p:cNvGraphicFramePr>
            <a:graphicFrameLocks noGrp="1"/>
          </p:cNvGraphicFramePr>
          <p:nvPr/>
        </p:nvGraphicFramePr>
        <p:xfrm>
          <a:off x="358139" y="1924929"/>
          <a:ext cx="7490460" cy="162557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283767435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84908469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116995629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367951617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109217750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711741418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808323846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780592476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2582383355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657233873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777185171"/>
                    </a:ext>
                  </a:extLst>
                </a:gridCol>
                <a:gridCol w="624205">
                  <a:extLst>
                    <a:ext uri="{9D8B030D-6E8A-4147-A177-3AD203B41FA5}">
                      <a16:colId xmlns:a16="http://schemas.microsoft.com/office/drawing/2014/main" val="3274696960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4299142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667776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717379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46263"/>
                  </a:ext>
                </a:extLst>
              </a:tr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marL="142233" marR="142233" marT="71117" marB="71117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88864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1B84239-D733-0FAF-5A71-D9864B58EA94}"/>
              </a:ext>
            </a:extLst>
          </p:cNvPr>
          <p:cNvSpPr txBox="1"/>
          <p:nvPr/>
        </p:nvSpPr>
        <p:spPr>
          <a:xfrm>
            <a:off x="416839" y="1547977"/>
            <a:ext cx="7503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latin typeface="Tahoma" panose="020B0604030504040204" pitchFamily="34" charset="0"/>
                <a:cs typeface="Tahoma" panose="020B0604030504040204" pitchFamily="34" charset="0"/>
              </a:rPr>
              <a:t>Bank </a:t>
            </a:r>
            <a:r>
              <a:rPr lang="en-US" altLang="ko-KR" dirty="0" err="1">
                <a:latin typeface="Tahoma" panose="020B0604030504040204" pitchFamily="34" charset="0"/>
                <a:cs typeface="Tahoma" panose="020B0604030504040204" pitchFamily="34" charset="0"/>
              </a:rPr>
              <a:t>i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3B7CEC-A3FB-1391-8ABA-CAE4358AA207}"/>
              </a:ext>
            </a:extLst>
          </p:cNvPr>
          <p:cNvSpPr/>
          <p:nvPr/>
        </p:nvSpPr>
        <p:spPr>
          <a:xfrm>
            <a:off x="358140" y="1924929"/>
            <a:ext cx="7490460" cy="162557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02717F70-9703-DFF3-35B8-3409356EF72E}"/>
              </a:ext>
            </a:extLst>
          </p:cNvPr>
          <p:cNvSpPr/>
          <p:nvPr/>
        </p:nvSpPr>
        <p:spPr>
          <a:xfrm>
            <a:off x="359354" y="3558119"/>
            <a:ext cx="7492420" cy="458207"/>
          </a:xfrm>
          <a:prstGeom prst="roundRect">
            <a:avLst>
              <a:gd name="adj" fmla="val 1938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0643787-80D6-1918-4058-0CB7434AA5F9}"/>
              </a:ext>
            </a:extLst>
          </p:cNvPr>
          <p:cNvSpPr/>
          <p:nvPr/>
        </p:nvSpPr>
        <p:spPr>
          <a:xfrm>
            <a:off x="2929009" y="4792343"/>
            <a:ext cx="2478928" cy="36512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Chip</a:t>
            </a:r>
            <a:r>
              <a:rPr lang="ko-KR" altLang="en-US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I/O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6" name="부제목 2">
            <a:extLst>
              <a:ext uri="{FF2B5EF4-FFF2-40B4-BE49-F238E27FC236}">
                <a16:creationId xmlns:a16="http://schemas.microsoft.com/office/drawing/2014/main" id="{3F371B91-BCAA-A597-669E-FCDE515BD97E}"/>
              </a:ext>
            </a:extLst>
          </p:cNvPr>
          <p:cNvSpPr txBox="1">
            <a:spLocks/>
          </p:cNvSpPr>
          <p:nvPr/>
        </p:nvSpPr>
        <p:spPr>
          <a:xfrm>
            <a:off x="416840" y="1063570"/>
            <a:ext cx="7503266" cy="46612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fontScale="92500"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20000"/>
              </a:lnSpc>
              <a:buNone/>
            </a:pPr>
            <a:r>
              <a:rPr lang="en-US" altLang="ko-KR" sz="2400" dirty="0">
                <a:ea typeface="Calibri" panose="020F0502020204030204" pitchFamily="34" charset="0"/>
                <a:cs typeface="Calibri" panose="020F0502020204030204" pitchFamily="34" charset="0"/>
              </a:rPr>
              <a:t>DRAM w/ Piccolo</a:t>
            </a:r>
          </a:p>
        </p:txBody>
      </p:sp>
      <p:graphicFrame>
        <p:nvGraphicFramePr>
          <p:cNvPr id="42" name="표 41"/>
          <p:cNvGraphicFramePr>
            <a:graphicFrameLocks noGrp="1"/>
          </p:cNvGraphicFramePr>
          <p:nvPr/>
        </p:nvGraphicFramePr>
        <p:xfrm>
          <a:off x="372054" y="3620228"/>
          <a:ext cx="608778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08778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48" name="표 47"/>
          <p:cNvGraphicFramePr>
            <a:graphicFrameLocks noGrp="1"/>
          </p:cNvGraphicFramePr>
          <p:nvPr/>
        </p:nvGraphicFramePr>
        <p:xfrm>
          <a:off x="980832" y="3620228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160630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1" name="표 50"/>
          <p:cNvGraphicFramePr>
            <a:graphicFrameLocks noGrp="1"/>
          </p:cNvGraphicFramePr>
          <p:nvPr/>
        </p:nvGraphicFramePr>
        <p:xfrm>
          <a:off x="223114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2" name="표 51"/>
          <p:cNvGraphicFramePr>
            <a:graphicFrameLocks noGrp="1"/>
          </p:cNvGraphicFramePr>
          <p:nvPr/>
        </p:nvGraphicFramePr>
        <p:xfrm>
          <a:off x="285598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3" name="표 52"/>
          <p:cNvGraphicFramePr>
            <a:graphicFrameLocks noGrp="1"/>
          </p:cNvGraphicFramePr>
          <p:nvPr/>
        </p:nvGraphicFramePr>
        <p:xfrm>
          <a:off x="348082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/>
        </p:nvGraphicFramePr>
        <p:xfrm>
          <a:off x="410566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/>
        </p:nvGraphicFramePr>
        <p:xfrm>
          <a:off x="473050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/>
        </p:nvGraphicFramePr>
        <p:xfrm>
          <a:off x="535534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598018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8" name="표 57"/>
          <p:cNvGraphicFramePr>
            <a:graphicFrameLocks noGrp="1"/>
          </p:cNvGraphicFramePr>
          <p:nvPr/>
        </p:nvGraphicFramePr>
        <p:xfrm>
          <a:off x="6605027" y="3621013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/>
        </p:nvGraphicFramePr>
        <p:xfrm>
          <a:off x="7222248" y="3621013"/>
          <a:ext cx="618732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8732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552934-F084-78FE-DE9B-B15C11E56E70}"/>
              </a:ext>
            </a:extLst>
          </p:cNvPr>
          <p:cNvSpPr/>
          <p:nvPr/>
        </p:nvSpPr>
        <p:spPr>
          <a:xfrm>
            <a:off x="8454871" y="3709717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76" name="표 75"/>
          <p:cNvGraphicFramePr>
            <a:graphicFrameLocks noGrp="1"/>
          </p:cNvGraphicFramePr>
          <p:nvPr/>
        </p:nvGraphicFramePr>
        <p:xfrm>
          <a:off x="8147037" y="3142434"/>
          <a:ext cx="624205" cy="32511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4205">
                  <a:extLst>
                    <a:ext uri="{9D8B030D-6E8A-4147-A177-3AD203B41FA5}">
                      <a16:colId xmlns:a16="http://schemas.microsoft.com/office/drawing/2014/main" val="285314133"/>
                    </a:ext>
                  </a:extLst>
                </a:gridCol>
              </a:tblGrid>
              <a:tr h="325114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rgbClr val="BFBFBF"/>
                        </a:solidFill>
                      </a:endParaRPr>
                    </a:p>
                  </a:txBody>
                  <a:tcPr marL="142233" marR="142233" marT="71117" marB="71117"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03634"/>
                  </a:ext>
                </a:extLst>
              </a:tr>
            </a:tbl>
          </a:graphicData>
        </a:graphic>
      </p:graphicFrame>
      <p:cxnSp>
        <p:nvCxnSpPr>
          <p:cNvPr id="78" name="직선 화살표 연결선 77"/>
          <p:cNvCxnSpPr/>
          <p:nvPr/>
        </p:nvCxnSpPr>
        <p:spPr>
          <a:xfrm>
            <a:off x="7612573" y="2737714"/>
            <a:ext cx="116329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화살표: 위쪽/아래쪽 11">
            <a:extLst>
              <a:ext uri="{FF2B5EF4-FFF2-40B4-BE49-F238E27FC236}">
                <a16:creationId xmlns:a16="http://schemas.microsoft.com/office/drawing/2014/main" id="{F7DBB86F-B5BE-F179-BF9B-2ECF59EDCDEC}"/>
              </a:ext>
            </a:extLst>
          </p:cNvPr>
          <p:cNvSpPr/>
          <p:nvPr/>
        </p:nvSpPr>
        <p:spPr>
          <a:xfrm>
            <a:off x="4128868" y="5157468"/>
            <a:ext cx="91440" cy="468506"/>
          </a:xfrm>
          <a:prstGeom prst="upDownArrow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4BFAD91-9201-1980-6E14-F10E315DA144}"/>
              </a:ext>
            </a:extLst>
          </p:cNvPr>
          <p:cNvSpPr/>
          <p:nvPr/>
        </p:nvSpPr>
        <p:spPr>
          <a:xfrm>
            <a:off x="416839" y="5625974"/>
            <a:ext cx="7503269" cy="365125"/>
          </a:xfrm>
          <a:prstGeom prst="roundRect">
            <a:avLst>
              <a:gd name="adj" fmla="val 16286"/>
            </a:avLst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AEB290C-CD92-0915-4E4F-EC4A41EA4884}"/>
              </a:ext>
            </a:extLst>
          </p:cNvPr>
          <p:cNvSpPr/>
          <p:nvPr/>
        </p:nvSpPr>
        <p:spPr>
          <a:xfrm>
            <a:off x="3460996" y="4133224"/>
            <a:ext cx="1380876" cy="552479"/>
          </a:xfrm>
          <a:prstGeom prst="roundRect">
            <a:avLst>
              <a:gd name="adj" fmla="val 1938"/>
            </a:avLst>
          </a:prstGeom>
          <a:solidFill>
            <a:schemeClr val="bg1"/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Internal Ctrl.</a:t>
            </a:r>
            <a:endParaRPr lang="ko-KR" altLang="en-US" sz="14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1ECCE37-AC30-D2E6-CDDB-5932C48E3156}"/>
              </a:ext>
            </a:extLst>
          </p:cNvPr>
          <p:cNvSpPr/>
          <p:nvPr/>
        </p:nvSpPr>
        <p:spPr>
          <a:xfrm>
            <a:off x="1011429" y="4152756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884A60-E2E6-483E-E6DE-44EFBA20B969}"/>
              </a:ext>
            </a:extLst>
          </p:cNvPr>
          <p:cNvSpPr/>
          <p:nvPr/>
        </p:nvSpPr>
        <p:spPr>
          <a:xfrm>
            <a:off x="1088116" y="4152756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7C8FCE-D2E4-930E-1D17-B223472E928E}"/>
              </a:ext>
            </a:extLst>
          </p:cNvPr>
          <p:cNvSpPr/>
          <p:nvPr/>
        </p:nvSpPr>
        <p:spPr>
          <a:xfrm>
            <a:off x="1164783" y="4152756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21A61E1-7658-6020-DAB8-28BD7EE93DE0}"/>
              </a:ext>
            </a:extLst>
          </p:cNvPr>
          <p:cNvSpPr/>
          <p:nvPr/>
        </p:nvSpPr>
        <p:spPr>
          <a:xfrm>
            <a:off x="1240768" y="4152756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88983B4-41CB-FF55-F85B-505463F1B102}"/>
              </a:ext>
            </a:extLst>
          </p:cNvPr>
          <p:cNvSpPr/>
          <p:nvPr/>
        </p:nvSpPr>
        <p:spPr>
          <a:xfrm>
            <a:off x="1318717" y="4152756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618C23-6AC8-DE06-E482-EF504838C0F3}"/>
              </a:ext>
            </a:extLst>
          </p:cNvPr>
          <p:cNvSpPr/>
          <p:nvPr/>
        </p:nvSpPr>
        <p:spPr>
          <a:xfrm>
            <a:off x="1397150" y="4152756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CC38A7B-690B-866C-C748-10C0BC08B3BF}"/>
              </a:ext>
            </a:extLst>
          </p:cNvPr>
          <p:cNvSpPr/>
          <p:nvPr/>
        </p:nvSpPr>
        <p:spPr>
          <a:xfrm>
            <a:off x="1474202" y="4152756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5C5667-7F07-D701-6098-9D6406EFE2B3}"/>
              </a:ext>
            </a:extLst>
          </p:cNvPr>
          <p:cNvSpPr/>
          <p:nvPr/>
        </p:nvSpPr>
        <p:spPr>
          <a:xfrm>
            <a:off x="1550749" y="4152756"/>
            <a:ext cx="75600" cy="32511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289E2C8-8BF9-65AC-6FBB-F9127DFF5ED8}"/>
              </a:ext>
            </a:extLst>
          </p:cNvPr>
          <p:cNvSpPr/>
          <p:nvPr/>
        </p:nvSpPr>
        <p:spPr>
          <a:xfrm>
            <a:off x="8459139" y="4292240"/>
            <a:ext cx="75600" cy="32511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0D3915D-8D83-7620-CF58-4975E460B3E0}"/>
              </a:ext>
            </a:extLst>
          </p:cNvPr>
          <p:cNvSpPr/>
          <p:nvPr/>
        </p:nvSpPr>
        <p:spPr>
          <a:xfrm>
            <a:off x="6613002" y="4133225"/>
            <a:ext cx="655200" cy="360000"/>
          </a:xfrm>
          <a:prstGeom prst="roundRect">
            <a:avLst>
              <a:gd name="adj" fmla="val 1938"/>
            </a:avLst>
          </a:prstGeom>
          <a:noFill/>
          <a:ln w="28575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EA63184-3DEF-38DF-6E44-A93E0D30876F}"/>
              </a:ext>
            </a:extLst>
          </p:cNvPr>
          <p:cNvSpPr txBox="1"/>
          <p:nvPr/>
        </p:nvSpPr>
        <p:spPr>
          <a:xfrm>
            <a:off x="3851562" y="4430093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Offset Buffer</a:t>
            </a:r>
            <a:endParaRPr lang="ko-KR" altLang="en-US" sz="18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BDAA6B8-5BB8-0721-3F30-24865702311D}"/>
              </a:ext>
            </a:extLst>
          </p:cNvPr>
          <p:cNvSpPr/>
          <p:nvPr/>
        </p:nvSpPr>
        <p:spPr>
          <a:xfrm>
            <a:off x="992050" y="4133225"/>
            <a:ext cx="655200" cy="360000"/>
          </a:xfrm>
          <a:prstGeom prst="roundRect">
            <a:avLst>
              <a:gd name="adj" fmla="val 1938"/>
            </a:avLst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DDDC2C-65B4-3FAF-5B3A-527E508D4A30}"/>
              </a:ext>
            </a:extLst>
          </p:cNvPr>
          <p:cNvSpPr txBox="1"/>
          <p:nvPr/>
        </p:nvSpPr>
        <p:spPr>
          <a:xfrm>
            <a:off x="-1769390" y="4430093"/>
            <a:ext cx="6229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Data Buffer</a:t>
            </a:r>
            <a:endParaRPr lang="ko-KR" altLang="en-US" sz="18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BE136836-C47D-673F-12F1-0F14027B6C8A}"/>
              </a:ext>
            </a:extLst>
          </p:cNvPr>
          <p:cNvCxnSpPr>
            <a:cxnSpLocks/>
          </p:cNvCxnSpPr>
          <p:nvPr/>
        </p:nvCxnSpPr>
        <p:spPr>
          <a:xfrm>
            <a:off x="4848225" y="4313194"/>
            <a:ext cx="1756167" cy="0"/>
          </a:xfrm>
          <a:prstGeom prst="line">
            <a:avLst/>
          </a:prstGeom>
          <a:ln w="12700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89ED9118-2F02-D336-F80E-E253CEF57D9D}"/>
              </a:ext>
            </a:extLst>
          </p:cNvPr>
          <p:cNvCxnSpPr>
            <a:cxnSpLocks/>
            <a:endCxn id="39" idx="3"/>
          </p:cNvCxnSpPr>
          <p:nvPr/>
        </p:nvCxnSpPr>
        <p:spPr>
          <a:xfrm flipH="1">
            <a:off x="1647250" y="4313194"/>
            <a:ext cx="1826294" cy="31"/>
          </a:xfrm>
          <a:prstGeom prst="line">
            <a:avLst/>
          </a:prstGeom>
          <a:ln w="12700">
            <a:solidFill>
              <a:srgbClr val="7671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150291D-73A6-8605-EF05-EAAF5E2BBE73}"/>
              </a:ext>
            </a:extLst>
          </p:cNvPr>
          <p:cNvSpPr txBox="1"/>
          <p:nvPr/>
        </p:nvSpPr>
        <p:spPr>
          <a:xfrm>
            <a:off x="1015781" y="5617521"/>
            <a:ext cx="62261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Host</a:t>
            </a:r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부제목 2">
            <a:extLst>
              <a:ext uri="{FF2B5EF4-FFF2-40B4-BE49-F238E27FC236}">
                <a16:creationId xmlns:a16="http://schemas.microsoft.com/office/drawing/2014/main" id="{6149F72B-30FA-4B2E-AA9B-B6F03F9309FA}"/>
              </a:ext>
            </a:extLst>
          </p:cNvPr>
          <p:cNvSpPr txBox="1">
            <a:spLocks/>
          </p:cNvSpPr>
          <p:nvPr/>
        </p:nvSpPr>
        <p:spPr>
          <a:xfrm>
            <a:off x="8099208" y="4619295"/>
            <a:ext cx="3903642" cy="6037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2800" dirty="0">
                <a:ea typeface="Calibri" panose="020F0502020204030204" pitchFamily="34" charset="0"/>
                <a:cs typeface="Calibri" panose="020F0502020204030204" pitchFamily="34" charset="0"/>
              </a:rPr>
              <a:t>8 Memory Transaction</a:t>
            </a:r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61311BBE-3552-1B0D-2B0B-D14B31EA0265}"/>
              </a:ext>
            </a:extLst>
          </p:cNvPr>
          <p:cNvSpPr txBox="1">
            <a:spLocks/>
          </p:cNvSpPr>
          <p:nvPr/>
        </p:nvSpPr>
        <p:spPr>
          <a:xfrm>
            <a:off x="8099208" y="5458833"/>
            <a:ext cx="4092792" cy="6037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2800" dirty="0">
                <a:solidFill>
                  <a:srgbClr val="FF5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 Memory Transaction</a:t>
            </a:r>
          </a:p>
        </p:txBody>
      </p:sp>
      <p:sp>
        <p:nvSpPr>
          <p:cNvPr id="37" name="화살표: 아래쪽 36">
            <a:extLst>
              <a:ext uri="{FF2B5EF4-FFF2-40B4-BE49-F238E27FC236}">
                <a16:creationId xmlns:a16="http://schemas.microsoft.com/office/drawing/2014/main" id="{54167BF8-40E2-ED75-11FB-62469C57AA74}"/>
              </a:ext>
            </a:extLst>
          </p:cNvPr>
          <p:cNvSpPr/>
          <p:nvPr/>
        </p:nvSpPr>
        <p:spPr>
          <a:xfrm>
            <a:off x="9582358" y="5222995"/>
            <a:ext cx="586077" cy="235838"/>
          </a:xfrm>
          <a:prstGeom prst="downArrow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부제목 2">
            <a:extLst>
              <a:ext uri="{FF2B5EF4-FFF2-40B4-BE49-F238E27FC236}">
                <a16:creationId xmlns:a16="http://schemas.microsoft.com/office/drawing/2014/main" id="{46F0924B-03D8-0C7A-01F9-7DC796CA439B}"/>
              </a:ext>
            </a:extLst>
          </p:cNvPr>
          <p:cNvSpPr txBox="1">
            <a:spLocks/>
          </p:cNvSpPr>
          <p:nvPr/>
        </p:nvSpPr>
        <p:spPr>
          <a:xfrm>
            <a:off x="8300721" y="6044998"/>
            <a:ext cx="3903642" cy="4608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t">
            <a:normAutofit lnSpcReduction="10000"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altLang="ko-KR" sz="24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</a:t>
            </a:r>
            <a:r>
              <a:rPr lang="en-US" altLang="ko-KR" sz="2400" dirty="0">
                <a:solidFill>
                  <a:srgbClr val="FF000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Bandwidth gain : x4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4EA6642-646F-543E-1FB7-8E5CAA752DC4}"/>
              </a:ext>
            </a:extLst>
          </p:cNvPr>
          <p:cNvSpPr/>
          <p:nvPr/>
        </p:nvSpPr>
        <p:spPr>
          <a:xfrm>
            <a:off x="8073129" y="4680543"/>
            <a:ext cx="3929721" cy="1825293"/>
          </a:xfrm>
          <a:prstGeom prst="roundRect">
            <a:avLst>
              <a:gd name="adj" fmla="val 0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ko-KR" altLang="en-US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71A05B-8D73-6BC6-A426-87B73039223D}"/>
              </a:ext>
            </a:extLst>
          </p:cNvPr>
          <p:cNvSpPr txBox="1"/>
          <p:nvPr/>
        </p:nvSpPr>
        <p:spPr>
          <a:xfrm>
            <a:off x="356498" y="3598249"/>
            <a:ext cx="74940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Sense Amplifier</a:t>
            </a:r>
            <a:endParaRPr lang="ko-KR" altLang="en-US" sz="1800" dirty="0">
              <a:solidFill>
                <a:schemeClr val="tx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529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07 L 0.23359 -0.0007 L 0.23359 0.21805 " pathEditMode="relative" rAng="0" ptsTypes="AAA">
                                      <p:cBhvr>
                                        <p:cTn id="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1092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07 L 0.23359 -0.0007 L 0.23359 0.21805 " pathEditMode="relative" rAng="0" ptsTypes="AAA">
                                      <p:cBhvr>
                                        <p:cTn id="1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10926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07 L 0.23359 -0.0007 L 0.23359 0.21805 " pathEditMode="relative" rAng="0" ptsTypes="AAA">
                                      <p:cBhvr>
                                        <p:cTn id="12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1092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07 L 0.23359 -0.0007 L 0.23359 0.21805 " pathEditMode="relative" rAng="0" ptsTypes="AAA">
                                      <p:cBhvr>
                                        <p:cTn id="14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1092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0.0007 L 0.23359 -0.0007 L 0.23359 0.21805 " pathEditMode="relative" rAng="0" ptsTypes="AAA">
                                      <p:cBhvr>
                                        <p:cTn id="1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10926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07 L 0.23359 -0.0007 L 0.23359 0.21805 " pathEditMode="relative" rAng="0" ptsTypes="AAA">
                                      <p:cBhvr>
                                        <p:cTn id="1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10926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07 L 0.23359 -0.0007 L 0.23359 0.21805 " pathEditMode="relative" rAng="0" ptsTypes="AAA">
                                      <p:cBhvr>
                                        <p:cTn id="2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1092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0.0007 L 0.23359 -0.0007 L 0.23359 0.21805 " pathEditMode="relative" rAng="0" ptsTypes="AAA">
                                      <p:cBhvr>
                                        <p:cTn id="2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680" y="10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8" grpId="0" animBg="1"/>
      <p:bldP spid="13" grpId="0" animBg="1"/>
      <p:bldP spid="37" grpId="0" animBg="1"/>
      <p:bldP spid="41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ko-Kore-KR" dirty="0"/>
              <a:t>Piccolo</a:t>
            </a:r>
            <a:r>
              <a:rPr kumimoji="1" lang="en-US" altLang="ko-KR" dirty="0"/>
              <a:t>: Graph Processing</a:t>
            </a:r>
            <a:r>
              <a:rPr kumimoji="1" lang="en-US" altLang="ko-Kore-KR" dirty="0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2" name="부제목 2">
            <a:extLst>
              <a:ext uri="{FF2B5EF4-FFF2-40B4-BE49-F238E27FC236}">
                <a16:creationId xmlns:a16="http://schemas.microsoft.com/office/drawing/2014/main" id="{AB7B8FA7-5B9E-293F-CEDE-D6987AC64173}"/>
              </a:ext>
            </a:extLst>
          </p:cNvPr>
          <p:cNvSpPr txBox="1">
            <a:spLocks/>
          </p:cNvSpPr>
          <p:nvPr/>
        </p:nvSpPr>
        <p:spPr>
          <a:xfrm>
            <a:off x="4949545" y="2107481"/>
            <a:ext cx="6941403" cy="293570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2" indent="0">
              <a:lnSpc>
                <a:spcPct val="110000"/>
              </a:lnSpc>
              <a:buNone/>
            </a:pPr>
            <a:r>
              <a:rPr lang="en-US" altLang="ko-KR" sz="3600" dirty="0">
                <a:ea typeface="Calibri" panose="020F0502020204030204" pitchFamily="34" charset="0"/>
                <a:cs typeface="Calibri" panose="020F0502020204030204" pitchFamily="34" charset="0"/>
              </a:rPr>
              <a:t>Graph Processing</a:t>
            </a:r>
          </a:p>
          <a:p>
            <a:pPr marL="971550" lvl="2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3600" dirty="0">
                <a:ea typeface="Calibri" panose="020F0502020204030204" pitchFamily="34" charset="0"/>
                <a:cs typeface="Calibri" panose="020F0502020204030204" pitchFamily="34" charset="0"/>
              </a:rPr>
              <a:t>Irregular Access Pattern</a:t>
            </a:r>
          </a:p>
          <a:p>
            <a:pPr marL="971550" lvl="2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3600" dirty="0">
                <a:ea typeface="Calibri" panose="020F0502020204030204" pitchFamily="34" charset="0"/>
                <a:cs typeface="Calibri" panose="020F0502020204030204" pitchFamily="34" charset="0"/>
              </a:rPr>
              <a:t>Extremely Random Access</a:t>
            </a:r>
          </a:p>
          <a:p>
            <a:pPr marL="971550" lvl="2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3600" dirty="0">
                <a:ea typeface="Calibri" panose="020F0502020204030204" pitchFamily="34" charset="0"/>
                <a:cs typeface="Calibri" panose="020F0502020204030204" pitchFamily="34" charset="0"/>
              </a:rPr>
              <a:t>PageRank, BFS, CC</a:t>
            </a: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4000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altLang="ko-KR" sz="40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E9D056F-1260-7AED-C0E4-7F9A04A99A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61" y="1849564"/>
            <a:ext cx="4048690" cy="3810532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9BDD84C-A32E-CC55-C2D4-9314CF1DB275}"/>
              </a:ext>
            </a:extLst>
          </p:cNvPr>
          <p:cNvSpPr/>
          <p:nvPr/>
        </p:nvSpPr>
        <p:spPr>
          <a:xfrm>
            <a:off x="552449" y="1854326"/>
            <a:ext cx="3810001" cy="354510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693AD06F-B355-121E-6D2E-27B9AE65CE4F}"/>
              </a:ext>
            </a:extLst>
          </p:cNvPr>
          <p:cNvSpPr txBox="1">
            <a:spLocks/>
          </p:cNvSpPr>
          <p:nvPr/>
        </p:nvSpPr>
        <p:spPr>
          <a:xfrm>
            <a:off x="90777" y="1234318"/>
            <a:ext cx="4804780" cy="2935705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lvl="2" indent="0">
              <a:lnSpc>
                <a:spcPct val="110000"/>
              </a:lnSpc>
              <a:buNone/>
            </a:pPr>
            <a:r>
              <a:rPr lang="en-US" altLang="ko-KR" sz="3200" dirty="0">
                <a:ea typeface="Calibri" panose="020F0502020204030204" pitchFamily="34" charset="0"/>
                <a:cs typeface="Calibri" panose="020F0502020204030204" pitchFamily="34" charset="0"/>
              </a:rPr>
              <a:t>Adjacency Matrix</a:t>
            </a:r>
            <a:endParaRPr lang="en-US" altLang="ko-KR" sz="36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4797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en-US" dirty="0"/>
              <a:t>Evaluation: Speedup</a:t>
            </a:r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356647" y="3704872"/>
            <a:ext cx="756139" cy="35169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0683D4-C637-7A56-7777-6BDC4ED49C87}"/>
              </a:ext>
            </a:extLst>
          </p:cNvPr>
          <p:cNvSpPr txBox="1">
            <a:spLocks/>
          </p:cNvSpPr>
          <p:nvPr/>
        </p:nvSpPr>
        <p:spPr>
          <a:xfrm>
            <a:off x="2323150" y="5470303"/>
            <a:ext cx="8389398" cy="114732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ea typeface="Calibri" panose="020F0502020204030204" pitchFamily="34" charset="0"/>
                <a:cs typeface="Calibri" panose="020F0502020204030204" pitchFamily="34" charset="0"/>
              </a:rPr>
              <a:t>External memory access: </a:t>
            </a:r>
            <a:r>
              <a:rPr lang="en-US" altLang="ko-KR" sz="2000" dirty="0">
                <a:solidFill>
                  <a:srgbClr val="FF5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54.3%</a:t>
            </a:r>
            <a:r>
              <a:rPr lang="en-US" altLang="ko-KR" sz="2000" dirty="0">
                <a:ea typeface="Calibri" panose="020F0502020204030204" pitchFamily="34" charset="0"/>
                <a:cs typeface="Calibri" panose="020F0502020204030204" pitchFamily="34" charset="0"/>
              </a:rPr>
              <a:t> reduced on average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Geomean speedup: 2.04x (PR), 1.37x (BFS), 2.30x (CC)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8E3686E-E204-E6F8-4239-A873EA48F0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59" y="1329398"/>
            <a:ext cx="9861452" cy="3717316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D0E7176-89F1-5774-6D3B-94FF180F9C8C}"/>
              </a:ext>
            </a:extLst>
          </p:cNvPr>
          <p:cNvCxnSpPr>
            <a:cxnSpLocks/>
          </p:cNvCxnSpPr>
          <p:nvPr/>
        </p:nvCxnSpPr>
        <p:spPr>
          <a:xfrm>
            <a:off x="1990579" y="2117188"/>
            <a:ext cx="386861" cy="626012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E513CC62-1F7B-7EED-8480-31586577A19A}"/>
              </a:ext>
            </a:extLst>
          </p:cNvPr>
          <p:cNvCxnSpPr>
            <a:cxnSpLocks/>
          </p:cNvCxnSpPr>
          <p:nvPr/>
        </p:nvCxnSpPr>
        <p:spPr>
          <a:xfrm>
            <a:off x="2711450" y="2117188"/>
            <a:ext cx="365345" cy="274320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9F9E08B-7562-7C7E-FB8C-004333DA2DBC}"/>
              </a:ext>
            </a:extLst>
          </p:cNvPr>
          <p:cNvCxnSpPr>
            <a:cxnSpLocks/>
          </p:cNvCxnSpPr>
          <p:nvPr/>
        </p:nvCxnSpPr>
        <p:spPr>
          <a:xfrm>
            <a:off x="3457929" y="2117188"/>
            <a:ext cx="358421" cy="562512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0B84DF1-8F7C-FD6C-1D8E-A17D44667015}"/>
              </a:ext>
            </a:extLst>
          </p:cNvPr>
          <p:cNvCxnSpPr>
            <a:cxnSpLocks/>
          </p:cNvCxnSpPr>
          <p:nvPr/>
        </p:nvCxnSpPr>
        <p:spPr>
          <a:xfrm>
            <a:off x="4197484" y="2117188"/>
            <a:ext cx="364991" cy="530762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CC629A8-548F-CD25-901B-A5EBE21ADE2D}"/>
              </a:ext>
            </a:extLst>
          </p:cNvPr>
          <p:cNvCxnSpPr>
            <a:cxnSpLocks/>
          </p:cNvCxnSpPr>
          <p:nvPr/>
        </p:nvCxnSpPr>
        <p:spPr>
          <a:xfrm>
            <a:off x="4937259" y="2110154"/>
            <a:ext cx="345941" cy="499696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29C8E0A-785C-8639-8391-1989BE67F6B8}"/>
              </a:ext>
            </a:extLst>
          </p:cNvPr>
          <p:cNvCxnSpPr>
            <a:cxnSpLocks/>
          </p:cNvCxnSpPr>
          <p:nvPr/>
        </p:nvCxnSpPr>
        <p:spPr>
          <a:xfrm>
            <a:off x="5636614" y="2110154"/>
            <a:ext cx="389536" cy="655271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5737828-9F5C-0062-F57C-1441F3D97793}"/>
              </a:ext>
            </a:extLst>
          </p:cNvPr>
          <p:cNvCxnSpPr>
            <a:cxnSpLocks/>
          </p:cNvCxnSpPr>
          <p:nvPr/>
        </p:nvCxnSpPr>
        <p:spPr>
          <a:xfrm>
            <a:off x="6376169" y="2117188"/>
            <a:ext cx="377056" cy="813337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2A54C442-EE02-61D0-CEC9-C7F64F3F4635}"/>
              </a:ext>
            </a:extLst>
          </p:cNvPr>
          <p:cNvCxnSpPr>
            <a:cxnSpLocks/>
          </p:cNvCxnSpPr>
          <p:nvPr/>
        </p:nvCxnSpPr>
        <p:spPr>
          <a:xfrm>
            <a:off x="7103244" y="2110154"/>
            <a:ext cx="380231" cy="439371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7C33CA59-1E66-3087-FB3C-488ECA6E0CCD}"/>
              </a:ext>
            </a:extLst>
          </p:cNvPr>
          <p:cNvCxnSpPr>
            <a:cxnSpLocks/>
          </p:cNvCxnSpPr>
          <p:nvPr/>
        </p:nvCxnSpPr>
        <p:spPr>
          <a:xfrm>
            <a:off x="7843019" y="2117188"/>
            <a:ext cx="377056" cy="733962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A8E21229-AE05-AB73-4753-82D0570D871B}"/>
              </a:ext>
            </a:extLst>
          </p:cNvPr>
          <p:cNvCxnSpPr>
            <a:cxnSpLocks/>
          </p:cNvCxnSpPr>
          <p:nvPr/>
        </p:nvCxnSpPr>
        <p:spPr>
          <a:xfrm>
            <a:off x="8573269" y="2117188"/>
            <a:ext cx="386581" cy="320601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70BDA9F7-FD94-7CBB-F3DA-65410718FD4A}"/>
              </a:ext>
            </a:extLst>
          </p:cNvPr>
          <p:cNvCxnSpPr>
            <a:cxnSpLocks/>
          </p:cNvCxnSpPr>
          <p:nvPr/>
        </p:nvCxnSpPr>
        <p:spPr>
          <a:xfrm>
            <a:off x="9324852" y="2110838"/>
            <a:ext cx="362073" cy="686337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F786448E-F7AB-F7A2-90B9-007B995DB78D}"/>
              </a:ext>
            </a:extLst>
          </p:cNvPr>
          <p:cNvCxnSpPr>
            <a:cxnSpLocks/>
          </p:cNvCxnSpPr>
          <p:nvPr/>
        </p:nvCxnSpPr>
        <p:spPr>
          <a:xfrm>
            <a:off x="10051927" y="2110154"/>
            <a:ext cx="384298" cy="591771"/>
          </a:xfrm>
          <a:prstGeom prst="straightConnector1">
            <a:avLst/>
          </a:prstGeom>
          <a:ln w="38100">
            <a:solidFill>
              <a:srgbClr val="FF5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9397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A6587D-A517-3BB7-D86B-149ECC765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77" y="109791"/>
            <a:ext cx="10515600" cy="708300"/>
          </a:xfrm>
        </p:spPr>
        <p:txBody>
          <a:bodyPr/>
          <a:lstStyle/>
          <a:p>
            <a:r>
              <a:rPr kumimoji="1" lang="en-US" altLang="en-US" dirty="0"/>
              <a:t>Evaluation: Speedup</a:t>
            </a:r>
            <a:endParaRPr kumimoji="1" lang="en-US" altLang="ko-Kore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300C16-E5AB-8C7B-3EB7-B059B8108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67E92-D382-44B7-ADA8-D2CDA3993887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8356647" y="3704872"/>
            <a:ext cx="756139" cy="35169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0683D4-C637-7A56-7777-6BDC4ED49C87}"/>
              </a:ext>
            </a:extLst>
          </p:cNvPr>
          <p:cNvSpPr txBox="1">
            <a:spLocks/>
          </p:cNvSpPr>
          <p:nvPr/>
        </p:nvSpPr>
        <p:spPr>
          <a:xfrm>
            <a:off x="2323150" y="5470303"/>
            <a:ext cx="8389398" cy="114732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514350" indent="-514350" algn="l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+mj-lt"/>
              <a:buAutoNum type="arabicPeriod"/>
              <a:defRPr sz="3200" b="1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badi" panose="020B0604020104020204" pitchFamily="34" charset="0"/>
              <a:buChar char="-"/>
              <a:defRPr sz="2800" b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chemeClr val="bg1">
                    <a:lumMod val="85000"/>
                  </a:schemeClr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External memory access: 54.3% reduced on average</a:t>
            </a:r>
          </a:p>
          <a:p>
            <a:pPr marL="342900" indent="-342900">
              <a:lnSpc>
                <a:spcPct val="11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ea typeface="Calibri" panose="020F0502020204030204" pitchFamily="34" charset="0"/>
                <a:cs typeface="Calibri" panose="020F0502020204030204" pitchFamily="34" charset="0"/>
              </a:rPr>
              <a:t>Geomean speedup: </a:t>
            </a:r>
            <a:r>
              <a:rPr lang="en-US" altLang="ko-KR" sz="2000" dirty="0">
                <a:solidFill>
                  <a:srgbClr val="FF5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2.04x</a:t>
            </a:r>
            <a:r>
              <a:rPr lang="en-US" altLang="ko-KR" sz="2000" dirty="0">
                <a:ea typeface="Calibri" panose="020F0502020204030204" pitchFamily="34" charset="0"/>
                <a:cs typeface="Calibri" panose="020F0502020204030204" pitchFamily="34" charset="0"/>
              </a:rPr>
              <a:t> (PR), </a:t>
            </a:r>
            <a:r>
              <a:rPr lang="en-US" altLang="ko-KR" sz="2000" dirty="0">
                <a:solidFill>
                  <a:srgbClr val="FF5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1.37x</a:t>
            </a:r>
            <a:r>
              <a:rPr lang="en-US" altLang="ko-KR" sz="2000" dirty="0">
                <a:ea typeface="Calibri" panose="020F0502020204030204" pitchFamily="34" charset="0"/>
                <a:cs typeface="Calibri" panose="020F0502020204030204" pitchFamily="34" charset="0"/>
              </a:rPr>
              <a:t> (BFS), </a:t>
            </a:r>
            <a:r>
              <a:rPr lang="en-US" altLang="ko-KR" sz="2000" dirty="0">
                <a:solidFill>
                  <a:srgbClr val="FF5050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2.30x</a:t>
            </a:r>
            <a:r>
              <a:rPr lang="en-US" altLang="ko-KR" sz="2000" dirty="0">
                <a:ea typeface="Calibri" panose="020F0502020204030204" pitchFamily="34" charset="0"/>
                <a:cs typeface="Calibri" panose="020F0502020204030204" pitchFamily="34" charset="0"/>
              </a:rPr>
              <a:t> (CC)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A93F688-D493-9A2B-414B-D055442BC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00" y="1241680"/>
            <a:ext cx="10356399" cy="366210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AD3FA97-3328-1DBB-4B34-CF18F6E109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800" y="1334317"/>
            <a:ext cx="10291621" cy="3569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293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scm8432@snu.ac.kr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97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D1AC003-0FDD-490A-B535-384B091E49CC}">
  <we:reference id="4b785c87-866c-4bad-85d8-5d1ae467ac9a" version="3.5.0.0" store="EXCatalog" storeType="EXCatalog"/>
  <we:alternateReferences>
    <we:reference id="WA104381909" version="3.5.0.0" store="ko-KR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4735FFCA553B04BBD54D4DD8A1F6BA3" ma:contentTypeVersion="3" ma:contentTypeDescription="새 문서를 만듭니다." ma:contentTypeScope="" ma:versionID="292cc6cd62dba189e15a034b80003aee">
  <xsd:schema xmlns:xsd="http://www.w3.org/2001/XMLSchema" xmlns:xs="http://www.w3.org/2001/XMLSchema" xmlns:p="http://schemas.microsoft.com/office/2006/metadata/properties" xmlns:ns3="f59bba8b-3eab-4aa0-96ae-45dbba6d05df" targetNamespace="http://schemas.microsoft.com/office/2006/metadata/properties" ma:root="true" ma:fieldsID="167f76635127f7dd994e314080f9d4f5" ns3:_="">
    <xsd:import namespace="f59bba8b-3eab-4aa0-96ae-45dbba6d05d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9bba8b-3eab-4aa0-96ae-45dbba6d05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59bba8b-3eab-4aa0-96ae-45dbba6d05d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A0DCF8D-DF05-4E56-87C0-1445C0A1A8D7}">
  <ds:schemaRefs>
    <ds:schemaRef ds:uri="f59bba8b-3eab-4aa0-96ae-45dbba6d05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EC26AAC-E47C-4547-9EC1-51681BB6C0D6}">
  <ds:schemaRefs>
    <ds:schemaRef ds:uri="http://schemas.microsoft.com/office/infopath/2007/PartnerControls"/>
    <ds:schemaRef ds:uri="http://purl.org/dc/terms/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f59bba8b-3eab-4aa0-96ae-45dbba6d05df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366BA52-234A-465C-853E-F91E966772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230126_outline</Template>
  <TotalTime>66433</TotalTime>
  <Words>365</Words>
  <Application>Microsoft Office PowerPoint</Application>
  <PresentationFormat>와이드스크린</PresentationFormat>
  <Paragraphs>123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맑은 고딕</vt:lpstr>
      <vt:lpstr>abadi</vt:lpstr>
      <vt:lpstr>abadi</vt:lpstr>
      <vt:lpstr>Arial</vt:lpstr>
      <vt:lpstr>Calibri</vt:lpstr>
      <vt:lpstr>Tahoma</vt:lpstr>
      <vt:lpstr>Wingdings</vt:lpstr>
      <vt:lpstr>Office 테마</vt:lpstr>
      <vt:lpstr>A Case for In-Memory Random Scatter-Gather for Fast Graph Processing</vt:lpstr>
      <vt:lpstr>Introduction</vt:lpstr>
      <vt:lpstr>Introduction</vt:lpstr>
      <vt:lpstr>Introduction</vt:lpstr>
      <vt:lpstr>Piccolo (Pick &amp; Collect)</vt:lpstr>
      <vt:lpstr>Piccolo: Architecture</vt:lpstr>
      <vt:lpstr>Piccolo: Architecture</vt:lpstr>
      <vt:lpstr>Piccolo: Architecture</vt:lpstr>
      <vt:lpstr>Piccolo: Graph Processing </vt:lpstr>
      <vt:lpstr>Evaluation: Speedup</vt:lpstr>
      <vt:lpstr>Evaluation: Speedup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Optimus-CC_ASPLOS23</dc:title>
  <dc:creator>Jaeyong Song</dc:creator>
  <cp:lastModifiedBy>신창민</cp:lastModifiedBy>
  <cp:revision>395</cp:revision>
  <cp:lastPrinted>2023-03-19T07:39:10Z</cp:lastPrinted>
  <dcterms:created xsi:type="dcterms:W3CDTF">2023-02-07T11:28:32Z</dcterms:created>
  <dcterms:modified xsi:type="dcterms:W3CDTF">2025-10-26T07:35:41Z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0x010100E4735FFCA553B04BBD54D4DD8A1F6BA3</vt:lpwstr>
  </property>
</Properties>
</file>